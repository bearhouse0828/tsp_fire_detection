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8" r:id="rId3"/>
    <p:sldId id="257" r:id="rId4"/>
    <p:sldId id="258" r:id="rId5"/>
    <p:sldId id="259" r:id="rId6"/>
    <p:sldId id="261" r:id="rId7"/>
    <p:sldId id="263" r:id="rId8"/>
    <p:sldId id="264" r:id="rId9"/>
    <p:sldId id="267" r:id="rId10"/>
    <p:sldId id="266"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94676"/>
  </p:normalViewPr>
  <p:slideViewPr>
    <p:cSldViewPr snapToGrid="0">
      <p:cViewPr varScale="1">
        <p:scale>
          <a:sx n="114" d="100"/>
          <a:sy n="114" d="100"/>
        </p:scale>
        <p:origin x="60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B272AA-DFFD-BA4E-A046-B7CA5797502D}" type="datetimeFigureOut">
              <a:rPr lang="en-US" smtClean="0"/>
              <a:t>10/9/25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1FD342-A410-1A4A-9658-84FE5A6F40F3}" type="slidenum">
              <a:rPr lang="en-US" smtClean="0"/>
              <a:t>‹#›</a:t>
            </a:fld>
            <a:endParaRPr lang="en-US"/>
          </a:p>
        </p:txBody>
      </p:sp>
    </p:spTree>
    <p:extLst>
      <p:ext uri="{BB962C8B-B14F-4D97-AF65-F5344CB8AC3E}">
        <p14:creationId xmlns:p14="http://schemas.microsoft.com/office/powerpoint/2010/main" val="2546975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1FD342-A410-1A4A-9658-84FE5A6F40F3}" type="slidenum">
              <a:rPr lang="en-US" smtClean="0"/>
              <a:t>9</a:t>
            </a:fld>
            <a:endParaRPr lang="en-US"/>
          </a:p>
        </p:txBody>
      </p:sp>
    </p:spTree>
    <p:extLst>
      <p:ext uri="{BB962C8B-B14F-4D97-AF65-F5344CB8AC3E}">
        <p14:creationId xmlns:p14="http://schemas.microsoft.com/office/powerpoint/2010/main" val="3349596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34D3A-8BB7-1DF4-9FFB-AC8C76B98A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EC9E0A-9E6B-CAE4-BF75-1452BE688E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55CB1B-4EC1-30B4-7FC9-D9D32DAB6B3E}"/>
              </a:ext>
            </a:extLst>
          </p:cNvPr>
          <p:cNvSpPr>
            <a:spLocks noGrp="1"/>
          </p:cNvSpPr>
          <p:nvPr>
            <p:ph type="dt" sz="half" idx="10"/>
          </p:nvPr>
        </p:nvSpPr>
        <p:spPr/>
        <p:txBody>
          <a:bodyPr/>
          <a:lstStyle/>
          <a:p>
            <a:fld id="{F4BE8D63-FB3E-3A46-A107-8E37C23DDA0D}" type="datetimeFigureOut">
              <a:rPr lang="en-US" smtClean="0"/>
              <a:t>10/9/25</a:t>
            </a:fld>
            <a:endParaRPr lang="en-US"/>
          </a:p>
        </p:txBody>
      </p:sp>
      <p:sp>
        <p:nvSpPr>
          <p:cNvPr id="5" name="Footer Placeholder 4">
            <a:extLst>
              <a:ext uri="{FF2B5EF4-FFF2-40B4-BE49-F238E27FC236}">
                <a16:creationId xmlns:a16="http://schemas.microsoft.com/office/drawing/2014/main" id="{724452E8-B5B4-B160-DA7D-2F61E7EB7F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6A71B-4C38-0394-50BB-71E66D53F654}"/>
              </a:ext>
            </a:extLst>
          </p:cNvPr>
          <p:cNvSpPr>
            <a:spLocks noGrp="1"/>
          </p:cNvSpPr>
          <p:nvPr>
            <p:ph type="sldNum" sz="quarter" idx="12"/>
          </p:nvPr>
        </p:nvSpPr>
        <p:spPr/>
        <p:txBody>
          <a:bodyPr/>
          <a:lstStyle/>
          <a:p>
            <a:fld id="{24D5215F-045F-A844-8144-2D4E15683F50}" type="slidenum">
              <a:rPr lang="en-US" smtClean="0"/>
              <a:t>‹#›</a:t>
            </a:fld>
            <a:endParaRPr lang="en-US"/>
          </a:p>
        </p:txBody>
      </p:sp>
    </p:spTree>
    <p:extLst>
      <p:ext uri="{BB962C8B-B14F-4D97-AF65-F5344CB8AC3E}">
        <p14:creationId xmlns:p14="http://schemas.microsoft.com/office/powerpoint/2010/main" val="4158161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40FA7-3116-69CE-9591-F253E500F3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E20801-C56C-2D3E-3355-5207A2956C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FD3E7B-A175-8012-74B9-8253E04F920C}"/>
              </a:ext>
            </a:extLst>
          </p:cNvPr>
          <p:cNvSpPr>
            <a:spLocks noGrp="1"/>
          </p:cNvSpPr>
          <p:nvPr>
            <p:ph type="dt" sz="half" idx="10"/>
          </p:nvPr>
        </p:nvSpPr>
        <p:spPr/>
        <p:txBody>
          <a:bodyPr/>
          <a:lstStyle/>
          <a:p>
            <a:fld id="{F4BE8D63-FB3E-3A46-A107-8E37C23DDA0D}" type="datetimeFigureOut">
              <a:rPr lang="en-US" smtClean="0"/>
              <a:t>10/9/25</a:t>
            </a:fld>
            <a:endParaRPr lang="en-US"/>
          </a:p>
        </p:txBody>
      </p:sp>
      <p:sp>
        <p:nvSpPr>
          <p:cNvPr id="5" name="Footer Placeholder 4">
            <a:extLst>
              <a:ext uri="{FF2B5EF4-FFF2-40B4-BE49-F238E27FC236}">
                <a16:creationId xmlns:a16="http://schemas.microsoft.com/office/drawing/2014/main" id="{133B1179-19BE-60BC-F875-8B12DEFD7A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0FB5C-E9D6-2936-D46E-EAE7847C5835}"/>
              </a:ext>
            </a:extLst>
          </p:cNvPr>
          <p:cNvSpPr>
            <a:spLocks noGrp="1"/>
          </p:cNvSpPr>
          <p:nvPr>
            <p:ph type="sldNum" sz="quarter" idx="12"/>
          </p:nvPr>
        </p:nvSpPr>
        <p:spPr/>
        <p:txBody>
          <a:bodyPr/>
          <a:lstStyle/>
          <a:p>
            <a:fld id="{24D5215F-045F-A844-8144-2D4E15683F50}" type="slidenum">
              <a:rPr lang="en-US" smtClean="0"/>
              <a:t>‹#›</a:t>
            </a:fld>
            <a:endParaRPr lang="en-US"/>
          </a:p>
        </p:txBody>
      </p:sp>
    </p:spTree>
    <p:extLst>
      <p:ext uri="{BB962C8B-B14F-4D97-AF65-F5344CB8AC3E}">
        <p14:creationId xmlns:p14="http://schemas.microsoft.com/office/powerpoint/2010/main" val="2471449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ED0D8-DB90-1F3E-204E-47A34433C4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8A7507-2EE6-3351-51F7-6507237C6B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23F057-8785-80CE-BA18-8D36036D6BEA}"/>
              </a:ext>
            </a:extLst>
          </p:cNvPr>
          <p:cNvSpPr>
            <a:spLocks noGrp="1"/>
          </p:cNvSpPr>
          <p:nvPr>
            <p:ph type="dt" sz="half" idx="10"/>
          </p:nvPr>
        </p:nvSpPr>
        <p:spPr/>
        <p:txBody>
          <a:bodyPr/>
          <a:lstStyle/>
          <a:p>
            <a:fld id="{F4BE8D63-FB3E-3A46-A107-8E37C23DDA0D}" type="datetimeFigureOut">
              <a:rPr lang="en-US" smtClean="0"/>
              <a:t>10/9/25</a:t>
            </a:fld>
            <a:endParaRPr lang="en-US"/>
          </a:p>
        </p:txBody>
      </p:sp>
      <p:sp>
        <p:nvSpPr>
          <p:cNvPr id="5" name="Footer Placeholder 4">
            <a:extLst>
              <a:ext uri="{FF2B5EF4-FFF2-40B4-BE49-F238E27FC236}">
                <a16:creationId xmlns:a16="http://schemas.microsoft.com/office/drawing/2014/main" id="{66203875-BD62-B3A4-9BB9-CEB8B9F7FC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461F59-22BC-AC2E-07FF-3E91BFFAB6BA}"/>
              </a:ext>
            </a:extLst>
          </p:cNvPr>
          <p:cNvSpPr>
            <a:spLocks noGrp="1"/>
          </p:cNvSpPr>
          <p:nvPr>
            <p:ph type="sldNum" sz="quarter" idx="12"/>
          </p:nvPr>
        </p:nvSpPr>
        <p:spPr/>
        <p:txBody>
          <a:bodyPr/>
          <a:lstStyle/>
          <a:p>
            <a:fld id="{24D5215F-045F-A844-8144-2D4E15683F50}" type="slidenum">
              <a:rPr lang="en-US" smtClean="0"/>
              <a:t>‹#›</a:t>
            </a:fld>
            <a:endParaRPr lang="en-US"/>
          </a:p>
        </p:txBody>
      </p:sp>
    </p:spTree>
    <p:extLst>
      <p:ext uri="{BB962C8B-B14F-4D97-AF65-F5344CB8AC3E}">
        <p14:creationId xmlns:p14="http://schemas.microsoft.com/office/powerpoint/2010/main" val="974867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66A33-1878-D53C-48FD-FEE192F25E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8153D0-B059-2A6F-7BF9-1DC5CA47DB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CD0D48-09C4-3A44-F14E-6B95A265CD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FF8F2F-A89C-824A-71B4-A9FDC2064198}"/>
              </a:ext>
            </a:extLst>
          </p:cNvPr>
          <p:cNvSpPr>
            <a:spLocks noGrp="1"/>
          </p:cNvSpPr>
          <p:nvPr>
            <p:ph type="dt" sz="half" idx="10"/>
          </p:nvPr>
        </p:nvSpPr>
        <p:spPr/>
        <p:txBody>
          <a:bodyPr/>
          <a:lstStyle/>
          <a:p>
            <a:fld id="{F4BE8D63-FB3E-3A46-A107-8E37C23DDA0D}" type="datetimeFigureOut">
              <a:rPr lang="en-US" smtClean="0"/>
              <a:t>10/9/25</a:t>
            </a:fld>
            <a:endParaRPr lang="en-US"/>
          </a:p>
        </p:txBody>
      </p:sp>
      <p:sp>
        <p:nvSpPr>
          <p:cNvPr id="6" name="Footer Placeholder 5">
            <a:extLst>
              <a:ext uri="{FF2B5EF4-FFF2-40B4-BE49-F238E27FC236}">
                <a16:creationId xmlns:a16="http://schemas.microsoft.com/office/drawing/2014/main" id="{E46F14C0-8968-EE90-D509-6093145DED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2AC3DC-0B78-D174-1B23-41FD270F4921}"/>
              </a:ext>
            </a:extLst>
          </p:cNvPr>
          <p:cNvSpPr>
            <a:spLocks noGrp="1"/>
          </p:cNvSpPr>
          <p:nvPr>
            <p:ph type="sldNum" sz="quarter" idx="12"/>
          </p:nvPr>
        </p:nvSpPr>
        <p:spPr/>
        <p:txBody>
          <a:bodyPr/>
          <a:lstStyle/>
          <a:p>
            <a:fld id="{24D5215F-045F-A844-8144-2D4E15683F50}" type="slidenum">
              <a:rPr lang="en-US" smtClean="0"/>
              <a:t>‹#›</a:t>
            </a:fld>
            <a:endParaRPr lang="en-US"/>
          </a:p>
        </p:txBody>
      </p:sp>
    </p:spTree>
    <p:extLst>
      <p:ext uri="{BB962C8B-B14F-4D97-AF65-F5344CB8AC3E}">
        <p14:creationId xmlns:p14="http://schemas.microsoft.com/office/powerpoint/2010/main" val="35882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3266D-7092-5EF8-CD78-61F5578776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B6C904-CA46-F647-131D-2FDAC4301B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45B4B2-1DFE-8E85-8B90-B272FC276C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B5DBD7-993B-5802-7D4B-93F9ABF850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051E3F-40E0-D384-D83A-E30E1020A2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D6D809-F029-0A79-A94E-F88A1970573B}"/>
              </a:ext>
            </a:extLst>
          </p:cNvPr>
          <p:cNvSpPr>
            <a:spLocks noGrp="1"/>
          </p:cNvSpPr>
          <p:nvPr>
            <p:ph type="dt" sz="half" idx="10"/>
          </p:nvPr>
        </p:nvSpPr>
        <p:spPr/>
        <p:txBody>
          <a:bodyPr/>
          <a:lstStyle/>
          <a:p>
            <a:fld id="{F4BE8D63-FB3E-3A46-A107-8E37C23DDA0D}" type="datetimeFigureOut">
              <a:rPr lang="en-US" smtClean="0"/>
              <a:t>10/9/25</a:t>
            </a:fld>
            <a:endParaRPr lang="en-US"/>
          </a:p>
        </p:txBody>
      </p:sp>
      <p:sp>
        <p:nvSpPr>
          <p:cNvPr id="8" name="Footer Placeholder 7">
            <a:extLst>
              <a:ext uri="{FF2B5EF4-FFF2-40B4-BE49-F238E27FC236}">
                <a16:creationId xmlns:a16="http://schemas.microsoft.com/office/drawing/2014/main" id="{CA624876-328E-2AB8-EA5D-F705D265A9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648B6E-CDED-177E-750D-7D79D6226F84}"/>
              </a:ext>
            </a:extLst>
          </p:cNvPr>
          <p:cNvSpPr>
            <a:spLocks noGrp="1"/>
          </p:cNvSpPr>
          <p:nvPr>
            <p:ph type="sldNum" sz="quarter" idx="12"/>
          </p:nvPr>
        </p:nvSpPr>
        <p:spPr/>
        <p:txBody>
          <a:bodyPr/>
          <a:lstStyle/>
          <a:p>
            <a:fld id="{24D5215F-045F-A844-8144-2D4E15683F50}" type="slidenum">
              <a:rPr lang="en-US" smtClean="0"/>
              <a:t>‹#›</a:t>
            </a:fld>
            <a:endParaRPr lang="en-US"/>
          </a:p>
        </p:txBody>
      </p:sp>
    </p:spTree>
    <p:extLst>
      <p:ext uri="{BB962C8B-B14F-4D97-AF65-F5344CB8AC3E}">
        <p14:creationId xmlns:p14="http://schemas.microsoft.com/office/powerpoint/2010/main" val="222855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DF4BE-E97E-3ABE-023F-6A61F3A7F2A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54AF30-7D7B-9CAE-21AF-7BCE8069A7C4}"/>
              </a:ext>
            </a:extLst>
          </p:cNvPr>
          <p:cNvSpPr>
            <a:spLocks noGrp="1"/>
          </p:cNvSpPr>
          <p:nvPr>
            <p:ph type="dt" sz="half" idx="10"/>
          </p:nvPr>
        </p:nvSpPr>
        <p:spPr/>
        <p:txBody>
          <a:bodyPr/>
          <a:lstStyle/>
          <a:p>
            <a:fld id="{F4BE8D63-FB3E-3A46-A107-8E37C23DDA0D}" type="datetimeFigureOut">
              <a:rPr lang="en-US" smtClean="0"/>
              <a:t>10/9/25</a:t>
            </a:fld>
            <a:endParaRPr lang="en-US"/>
          </a:p>
        </p:txBody>
      </p:sp>
      <p:sp>
        <p:nvSpPr>
          <p:cNvPr id="4" name="Footer Placeholder 3">
            <a:extLst>
              <a:ext uri="{FF2B5EF4-FFF2-40B4-BE49-F238E27FC236}">
                <a16:creationId xmlns:a16="http://schemas.microsoft.com/office/drawing/2014/main" id="{EBE2CA5E-3345-F678-9B4C-D3EB1B0B1A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D1285D-45A5-27FC-3784-448EB37E2A15}"/>
              </a:ext>
            </a:extLst>
          </p:cNvPr>
          <p:cNvSpPr>
            <a:spLocks noGrp="1"/>
          </p:cNvSpPr>
          <p:nvPr>
            <p:ph type="sldNum" sz="quarter" idx="12"/>
          </p:nvPr>
        </p:nvSpPr>
        <p:spPr/>
        <p:txBody>
          <a:bodyPr/>
          <a:lstStyle/>
          <a:p>
            <a:fld id="{24D5215F-045F-A844-8144-2D4E15683F50}" type="slidenum">
              <a:rPr lang="en-US" smtClean="0"/>
              <a:t>‹#›</a:t>
            </a:fld>
            <a:endParaRPr lang="en-US"/>
          </a:p>
        </p:txBody>
      </p:sp>
    </p:spTree>
    <p:extLst>
      <p:ext uri="{BB962C8B-B14F-4D97-AF65-F5344CB8AC3E}">
        <p14:creationId xmlns:p14="http://schemas.microsoft.com/office/powerpoint/2010/main" val="2110740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ADBD31-9D1D-5411-BCA8-7EA873693F4D}"/>
              </a:ext>
            </a:extLst>
          </p:cNvPr>
          <p:cNvSpPr>
            <a:spLocks noGrp="1"/>
          </p:cNvSpPr>
          <p:nvPr>
            <p:ph type="dt" sz="half" idx="10"/>
          </p:nvPr>
        </p:nvSpPr>
        <p:spPr/>
        <p:txBody>
          <a:bodyPr/>
          <a:lstStyle/>
          <a:p>
            <a:fld id="{F4BE8D63-FB3E-3A46-A107-8E37C23DDA0D}" type="datetimeFigureOut">
              <a:rPr lang="en-US" smtClean="0"/>
              <a:t>10/9/25</a:t>
            </a:fld>
            <a:endParaRPr lang="en-US"/>
          </a:p>
        </p:txBody>
      </p:sp>
      <p:sp>
        <p:nvSpPr>
          <p:cNvPr id="3" name="Footer Placeholder 2">
            <a:extLst>
              <a:ext uri="{FF2B5EF4-FFF2-40B4-BE49-F238E27FC236}">
                <a16:creationId xmlns:a16="http://schemas.microsoft.com/office/drawing/2014/main" id="{7F7E1013-5025-C88C-BFBF-BF2DE1971D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6B3442-1833-1426-B83C-C3FB411C8843}"/>
              </a:ext>
            </a:extLst>
          </p:cNvPr>
          <p:cNvSpPr>
            <a:spLocks noGrp="1"/>
          </p:cNvSpPr>
          <p:nvPr>
            <p:ph type="sldNum" sz="quarter" idx="12"/>
          </p:nvPr>
        </p:nvSpPr>
        <p:spPr/>
        <p:txBody>
          <a:bodyPr/>
          <a:lstStyle/>
          <a:p>
            <a:fld id="{24D5215F-045F-A844-8144-2D4E15683F50}" type="slidenum">
              <a:rPr lang="en-US" smtClean="0"/>
              <a:t>‹#›</a:t>
            </a:fld>
            <a:endParaRPr lang="en-US"/>
          </a:p>
        </p:txBody>
      </p:sp>
    </p:spTree>
    <p:extLst>
      <p:ext uri="{BB962C8B-B14F-4D97-AF65-F5344CB8AC3E}">
        <p14:creationId xmlns:p14="http://schemas.microsoft.com/office/powerpoint/2010/main" val="2172532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E190B-6178-981C-84EA-4BB1806DC1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EDB4B9-3EA5-6C5E-3A2D-7CF5AEF971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AF2B75B-AE61-8A77-0AD0-0C8C44163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55420D-E671-5565-10CD-4BB50F78AA37}"/>
              </a:ext>
            </a:extLst>
          </p:cNvPr>
          <p:cNvSpPr>
            <a:spLocks noGrp="1"/>
          </p:cNvSpPr>
          <p:nvPr>
            <p:ph type="dt" sz="half" idx="10"/>
          </p:nvPr>
        </p:nvSpPr>
        <p:spPr/>
        <p:txBody>
          <a:bodyPr/>
          <a:lstStyle/>
          <a:p>
            <a:fld id="{F4BE8D63-FB3E-3A46-A107-8E37C23DDA0D}" type="datetimeFigureOut">
              <a:rPr lang="en-US" smtClean="0"/>
              <a:t>10/9/25</a:t>
            </a:fld>
            <a:endParaRPr lang="en-US"/>
          </a:p>
        </p:txBody>
      </p:sp>
      <p:sp>
        <p:nvSpPr>
          <p:cNvPr id="6" name="Footer Placeholder 5">
            <a:extLst>
              <a:ext uri="{FF2B5EF4-FFF2-40B4-BE49-F238E27FC236}">
                <a16:creationId xmlns:a16="http://schemas.microsoft.com/office/drawing/2014/main" id="{6BF67CC2-B9EF-1725-EEC6-9CF1B104F1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4B7E59-BFBE-CC70-E1DD-75D69A0B4DE9}"/>
              </a:ext>
            </a:extLst>
          </p:cNvPr>
          <p:cNvSpPr>
            <a:spLocks noGrp="1"/>
          </p:cNvSpPr>
          <p:nvPr>
            <p:ph type="sldNum" sz="quarter" idx="12"/>
          </p:nvPr>
        </p:nvSpPr>
        <p:spPr/>
        <p:txBody>
          <a:bodyPr/>
          <a:lstStyle/>
          <a:p>
            <a:fld id="{24D5215F-045F-A844-8144-2D4E15683F50}" type="slidenum">
              <a:rPr lang="en-US" smtClean="0"/>
              <a:t>‹#›</a:t>
            </a:fld>
            <a:endParaRPr lang="en-US"/>
          </a:p>
        </p:txBody>
      </p:sp>
    </p:spTree>
    <p:extLst>
      <p:ext uri="{BB962C8B-B14F-4D97-AF65-F5344CB8AC3E}">
        <p14:creationId xmlns:p14="http://schemas.microsoft.com/office/powerpoint/2010/main" val="3943866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C59A7-24A7-63F3-1D84-44D44D4997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C57DA5-A97F-A349-8E74-756DDD2062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309C34-E2CD-D645-F0D0-8E0EC3F771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4F6F28-A1A2-2038-EEC6-77275C5C29AC}"/>
              </a:ext>
            </a:extLst>
          </p:cNvPr>
          <p:cNvSpPr>
            <a:spLocks noGrp="1"/>
          </p:cNvSpPr>
          <p:nvPr>
            <p:ph type="dt" sz="half" idx="10"/>
          </p:nvPr>
        </p:nvSpPr>
        <p:spPr/>
        <p:txBody>
          <a:bodyPr/>
          <a:lstStyle/>
          <a:p>
            <a:fld id="{F4BE8D63-FB3E-3A46-A107-8E37C23DDA0D}" type="datetimeFigureOut">
              <a:rPr lang="en-US" smtClean="0"/>
              <a:t>10/9/25</a:t>
            </a:fld>
            <a:endParaRPr lang="en-US"/>
          </a:p>
        </p:txBody>
      </p:sp>
      <p:sp>
        <p:nvSpPr>
          <p:cNvPr id="6" name="Footer Placeholder 5">
            <a:extLst>
              <a:ext uri="{FF2B5EF4-FFF2-40B4-BE49-F238E27FC236}">
                <a16:creationId xmlns:a16="http://schemas.microsoft.com/office/drawing/2014/main" id="{5064308C-4F79-E69B-4251-3AD2BE87A3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547AF4-8124-DDA8-F9FE-63B4A6BC9384}"/>
              </a:ext>
            </a:extLst>
          </p:cNvPr>
          <p:cNvSpPr>
            <a:spLocks noGrp="1"/>
          </p:cNvSpPr>
          <p:nvPr>
            <p:ph type="sldNum" sz="quarter" idx="12"/>
          </p:nvPr>
        </p:nvSpPr>
        <p:spPr/>
        <p:txBody>
          <a:bodyPr/>
          <a:lstStyle/>
          <a:p>
            <a:fld id="{24D5215F-045F-A844-8144-2D4E15683F50}" type="slidenum">
              <a:rPr lang="en-US" smtClean="0"/>
              <a:t>‹#›</a:t>
            </a:fld>
            <a:endParaRPr lang="en-US"/>
          </a:p>
        </p:txBody>
      </p:sp>
    </p:spTree>
    <p:extLst>
      <p:ext uri="{BB962C8B-B14F-4D97-AF65-F5344CB8AC3E}">
        <p14:creationId xmlns:p14="http://schemas.microsoft.com/office/powerpoint/2010/main" val="427184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F30E8-4303-CD68-1B20-5753716A02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00960A-246F-72CB-C608-E3246C4E07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1300E3-6550-EA61-1FB4-9503C4F89CFC}"/>
              </a:ext>
            </a:extLst>
          </p:cNvPr>
          <p:cNvSpPr>
            <a:spLocks noGrp="1"/>
          </p:cNvSpPr>
          <p:nvPr>
            <p:ph type="dt" sz="half" idx="10"/>
          </p:nvPr>
        </p:nvSpPr>
        <p:spPr/>
        <p:txBody>
          <a:bodyPr/>
          <a:lstStyle/>
          <a:p>
            <a:fld id="{F4BE8D63-FB3E-3A46-A107-8E37C23DDA0D}" type="datetimeFigureOut">
              <a:rPr lang="en-US" smtClean="0"/>
              <a:t>10/9/25</a:t>
            </a:fld>
            <a:endParaRPr lang="en-US"/>
          </a:p>
        </p:txBody>
      </p:sp>
      <p:sp>
        <p:nvSpPr>
          <p:cNvPr id="5" name="Footer Placeholder 4">
            <a:extLst>
              <a:ext uri="{FF2B5EF4-FFF2-40B4-BE49-F238E27FC236}">
                <a16:creationId xmlns:a16="http://schemas.microsoft.com/office/drawing/2014/main" id="{E51E6AC3-EF02-68EA-22AD-5C6345D355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1D308E-CE80-EEC2-9DB6-7336EA233FB3}"/>
              </a:ext>
            </a:extLst>
          </p:cNvPr>
          <p:cNvSpPr>
            <a:spLocks noGrp="1"/>
          </p:cNvSpPr>
          <p:nvPr>
            <p:ph type="sldNum" sz="quarter" idx="12"/>
          </p:nvPr>
        </p:nvSpPr>
        <p:spPr/>
        <p:txBody>
          <a:bodyPr/>
          <a:lstStyle/>
          <a:p>
            <a:fld id="{24D5215F-045F-A844-8144-2D4E15683F50}" type="slidenum">
              <a:rPr lang="en-US" smtClean="0"/>
              <a:t>‹#›</a:t>
            </a:fld>
            <a:endParaRPr lang="en-US"/>
          </a:p>
        </p:txBody>
      </p:sp>
    </p:spTree>
    <p:extLst>
      <p:ext uri="{BB962C8B-B14F-4D97-AF65-F5344CB8AC3E}">
        <p14:creationId xmlns:p14="http://schemas.microsoft.com/office/powerpoint/2010/main" val="345677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42446E-69C0-8513-3BFE-9C1F56E6553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7B8443-F7EB-02E3-7BA2-AB0799537D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95ED86-C444-DB0D-DEA2-CB1929FC4D52}"/>
              </a:ext>
            </a:extLst>
          </p:cNvPr>
          <p:cNvSpPr>
            <a:spLocks noGrp="1"/>
          </p:cNvSpPr>
          <p:nvPr>
            <p:ph type="dt" sz="half" idx="10"/>
          </p:nvPr>
        </p:nvSpPr>
        <p:spPr/>
        <p:txBody>
          <a:bodyPr/>
          <a:lstStyle/>
          <a:p>
            <a:fld id="{F4BE8D63-FB3E-3A46-A107-8E37C23DDA0D}" type="datetimeFigureOut">
              <a:rPr lang="en-US" smtClean="0"/>
              <a:t>10/9/25</a:t>
            </a:fld>
            <a:endParaRPr lang="en-US"/>
          </a:p>
        </p:txBody>
      </p:sp>
      <p:sp>
        <p:nvSpPr>
          <p:cNvPr id="5" name="Footer Placeholder 4">
            <a:extLst>
              <a:ext uri="{FF2B5EF4-FFF2-40B4-BE49-F238E27FC236}">
                <a16:creationId xmlns:a16="http://schemas.microsoft.com/office/drawing/2014/main" id="{CB52317A-CA58-9C46-B2AF-8D93EBD529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36AD66-FCAB-FAC4-AFB4-B61852E3E564}"/>
              </a:ext>
            </a:extLst>
          </p:cNvPr>
          <p:cNvSpPr>
            <a:spLocks noGrp="1"/>
          </p:cNvSpPr>
          <p:nvPr>
            <p:ph type="sldNum" sz="quarter" idx="12"/>
          </p:nvPr>
        </p:nvSpPr>
        <p:spPr/>
        <p:txBody>
          <a:bodyPr/>
          <a:lstStyle/>
          <a:p>
            <a:fld id="{24D5215F-045F-A844-8144-2D4E15683F50}" type="slidenum">
              <a:rPr lang="en-US" smtClean="0"/>
              <a:t>‹#›</a:t>
            </a:fld>
            <a:endParaRPr lang="en-US"/>
          </a:p>
        </p:txBody>
      </p:sp>
    </p:spTree>
    <p:extLst>
      <p:ext uri="{BB962C8B-B14F-4D97-AF65-F5344CB8AC3E}">
        <p14:creationId xmlns:p14="http://schemas.microsoft.com/office/powerpoint/2010/main" val="809697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6967DE-2604-2B52-BEC5-39DEA3B2A6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FCF977-4AE1-8028-6A74-CBA8A05368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E3AAC4-0D7B-A3ED-EFFA-13885CD9F5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BE8D63-FB3E-3A46-A107-8E37C23DDA0D}" type="datetimeFigureOut">
              <a:rPr lang="en-US" smtClean="0"/>
              <a:t>10/9/25</a:t>
            </a:fld>
            <a:endParaRPr lang="en-US"/>
          </a:p>
        </p:txBody>
      </p:sp>
      <p:sp>
        <p:nvSpPr>
          <p:cNvPr id="5" name="Footer Placeholder 4">
            <a:extLst>
              <a:ext uri="{FF2B5EF4-FFF2-40B4-BE49-F238E27FC236}">
                <a16:creationId xmlns:a16="http://schemas.microsoft.com/office/drawing/2014/main" id="{9CCE12BF-8F18-8EDA-6562-C02C667345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748ACD2-C45E-13D6-C9F4-CC88DC6F5A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D5215F-045F-A844-8144-2D4E15683F50}" type="slidenum">
              <a:rPr lang="en-US" smtClean="0"/>
              <a:t>‹#›</a:t>
            </a:fld>
            <a:endParaRPr lang="en-US"/>
          </a:p>
        </p:txBody>
      </p:sp>
    </p:spTree>
    <p:extLst>
      <p:ext uri="{BB962C8B-B14F-4D97-AF65-F5344CB8AC3E}">
        <p14:creationId xmlns:p14="http://schemas.microsoft.com/office/powerpoint/2010/main" val="2928818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76707-6519-3BE5-4DC9-A7EF12D0CC20}"/>
              </a:ext>
            </a:extLst>
          </p:cNvPr>
          <p:cNvSpPr>
            <a:spLocks noGrp="1"/>
          </p:cNvSpPr>
          <p:nvPr>
            <p:ph type="ctrTitle"/>
          </p:nvPr>
        </p:nvSpPr>
        <p:spPr>
          <a:xfrm>
            <a:off x="1524000" y="1122363"/>
            <a:ext cx="9144000" cy="1795649"/>
          </a:xfrm>
        </p:spPr>
        <p:txBody>
          <a:bodyPr>
            <a:normAutofit fontScale="90000"/>
          </a:bodyPr>
          <a:lstStyle/>
          <a:p>
            <a:r>
              <a:rPr lang="en-US" dirty="0"/>
              <a:t>Wildfire Detection from N2 Sensor Network – Initial Results</a:t>
            </a:r>
          </a:p>
        </p:txBody>
      </p:sp>
      <p:sp>
        <p:nvSpPr>
          <p:cNvPr id="3" name="Subtitle 2">
            <a:extLst>
              <a:ext uri="{FF2B5EF4-FFF2-40B4-BE49-F238E27FC236}">
                <a16:creationId xmlns:a16="http://schemas.microsoft.com/office/drawing/2014/main" id="{B1CD4219-DB7B-11B5-2BD0-15E6F48B2139}"/>
              </a:ext>
            </a:extLst>
          </p:cNvPr>
          <p:cNvSpPr>
            <a:spLocks noGrp="1"/>
          </p:cNvSpPr>
          <p:nvPr>
            <p:ph type="subTitle" idx="1"/>
          </p:nvPr>
        </p:nvSpPr>
        <p:spPr>
          <a:xfrm>
            <a:off x="1524000" y="4477870"/>
            <a:ext cx="9144000" cy="779929"/>
          </a:xfrm>
        </p:spPr>
        <p:txBody>
          <a:bodyPr>
            <a:normAutofit/>
          </a:bodyPr>
          <a:lstStyle/>
          <a:p>
            <a:r>
              <a:rPr lang="en-US" sz="3200" dirty="0" err="1"/>
              <a:t>Lizhao</a:t>
            </a:r>
            <a:r>
              <a:rPr lang="en-US" sz="3200" dirty="0"/>
              <a:t> Wang</a:t>
            </a:r>
          </a:p>
        </p:txBody>
      </p:sp>
    </p:spTree>
    <p:extLst>
      <p:ext uri="{BB962C8B-B14F-4D97-AF65-F5344CB8AC3E}">
        <p14:creationId xmlns:p14="http://schemas.microsoft.com/office/powerpoint/2010/main" val="2001988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3B704-B3BC-BC51-58DF-71801E9CD258}"/>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9B0D714F-A35A-AE53-6D3A-2AA947F15575}"/>
              </a:ext>
            </a:extLst>
          </p:cNvPr>
          <p:cNvSpPr>
            <a:spLocks noGrp="1"/>
          </p:cNvSpPr>
          <p:nvPr>
            <p:ph idx="1"/>
          </p:nvPr>
        </p:nvSpPr>
        <p:spPr/>
        <p:txBody>
          <a:bodyPr>
            <a:normAutofit/>
          </a:bodyPr>
          <a:lstStyle/>
          <a:p>
            <a:r>
              <a:rPr lang="en-US" dirty="0"/>
              <a:t>In this experiment, I applied three methods to identify fire events from </a:t>
            </a:r>
            <a:r>
              <a:rPr lang="en-US" altLang="zh-CN" dirty="0"/>
              <a:t>PM</a:t>
            </a:r>
            <a:r>
              <a:rPr lang="en-US" dirty="0"/>
              <a:t> sensor data:</a:t>
            </a:r>
            <a:br>
              <a:rPr lang="en-US" dirty="0"/>
            </a:br>
            <a:r>
              <a:rPr lang="en-US" altLang="zh-CN" dirty="0"/>
              <a:t>1)</a:t>
            </a:r>
            <a:r>
              <a:rPr lang="en-US" dirty="0"/>
              <a:t> a single-station anomaly detection method</a:t>
            </a:r>
            <a:br>
              <a:rPr lang="en-US" dirty="0"/>
            </a:br>
            <a:r>
              <a:rPr lang="en-US" altLang="zh-CN" dirty="0"/>
              <a:t>2)</a:t>
            </a:r>
            <a:r>
              <a:rPr lang="zh-CN" altLang="en-US" dirty="0"/>
              <a:t> </a:t>
            </a:r>
            <a:r>
              <a:rPr lang="en-US" dirty="0"/>
              <a:t>a multi-station joint detection method</a:t>
            </a:r>
            <a:br>
              <a:rPr lang="en-US" dirty="0"/>
            </a:br>
            <a:r>
              <a:rPr lang="en-US" altLang="zh-CN" dirty="0"/>
              <a:t>3)</a:t>
            </a:r>
            <a:r>
              <a:rPr lang="zh-CN" altLang="en-US" dirty="0"/>
              <a:t> </a:t>
            </a:r>
            <a:r>
              <a:rPr lang="en-US" dirty="0"/>
              <a:t>a deep learning–based anomaly detection method</a:t>
            </a:r>
          </a:p>
          <a:p>
            <a:endParaRPr lang="en-US" altLang="zh-CN" dirty="0"/>
          </a:p>
          <a:p>
            <a:r>
              <a:rPr lang="en-US" dirty="0"/>
              <a:t>For each method, two types of visualizations are provided</a:t>
            </a:r>
          </a:p>
          <a:p>
            <a:pPr marL="0" indent="0">
              <a:buNone/>
            </a:pPr>
            <a:r>
              <a:rPr lang="zh-CN" altLang="en-US" dirty="0"/>
              <a:t>   </a:t>
            </a:r>
            <a:r>
              <a:rPr lang="en-US" altLang="zh-CN" dirty="0"/>
              <a:t>1)</a:t>
            </a:r>
            <a:r>
              <a:rPr lang="zh-CN" altLang="en-US" dirty="0"/>
              <a:t> </a:t>
            </a:r>
            <a:r>
              <a:rPr lang="en-US" dirty="0"/>
              <a:t>time-series plots for each station with fire periods marked</a:t>
            </a:r>
          </a:p>
          <a:p>
            <a:pPr marL="0" indent="0">
              <a:buNone/>
            </a:pPr>
            <a:r>
              <a:rPr lang="zh-CN" altLang="en-US" dirty="0"/>
              <a:t>   </a:t>
            </a:r>
            <a:r>
              <a:rPr lang="en-US" altLang="zh-CN" dirty="0"/>
              <a:t>2)</a:t>
            </a:r>
            <a:r>
              <a:rPr lang="zh-CN" altLang="en-US" dirty="0"/>
              <a:t> </a:t>
            </a:r>
            <a:r>
              <a:rPr lang="en-US" altLang="zh-CN" dirty="0"/>
              <a:t>dynamic</a:t>
            </a:r>
            <a:r>
              <a:rPr lang="zh-CN" altLang="en-US" dirty="0"/>
              <a:t> </a:t>
            </a:r>
            <a:r>
              <a:rPr lang="en-US" altLang="zh-CN" dirty="0"/>
              <a:t>regional</a:t>
            </a:r>
            <a:r>
              <a:rPr lang="zh-CN" altLang="en-US" dirty="0"/>
              <a:t> </a:t>
            </a:r>
            <a:r>
              <a:rPr lang="en-US" altLang="zh-CN" dirty="0"/>
              <a:t>maps</a:t>
            </a:r>
            <a:r>
              <a:rPr lang="zh-CN" altLang="en-US" dirty="0"/>
              <a:t> </a:t>
            </a:r>
            <a:r>
              <a:rPr lang="en-US" dirty="0"/>
              <a:t>showing the detected fire periods</a:t>
            </a:r>
          </a:p>
        </p:txBody>
      </p:sp>
    </p:spTree>
    <p:extLst>
      <p:ext uri="{BB962C8B-B14F-4D97-AF65-F5344CB8AC3E}">
        <p14:creationId xmlns:p14="http://schemas.microsoft.com/office/powerpoint/2010/main" val="3187190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0E602-258F-F164-1A59-E39DB221B536}"/>
              </a:ext>
            </a:extLst>
          </p:cNvPr>
          <p:cNvSpPr>
            <a:spLocks noGrp="1"/>
          </p:cNvSpPr>
          <p:nvPr>
            <p:ph type="title"/>
          </p:nvPr>
        </p:nvSpPr>
        <p:spPr>
          <a:xfrm>
            <a:off x="838200" y="365126"/>
            <a:ext cx="10515600" cy="737534"/>
          </a:xfrm>
        </p:spPr>
        <p:txBody>
          <a:bodyPr/>
          <a:lstStyle/>
          <a:p>
            <a:r>
              <a:rPr lang="en-US" altLang="zh-CN" dirty="0"/>
              <a:t>Single-Station</a:t>
            </a:r>
            <a:r>
              <a:rPr lang="zh-CN" altLang="en-US" dirty="0"/>
              <a:t> </a:t>
            </a:r>
            <a:r>
              <a:rPr lang="en-US" altLang="zh-CN" dirty="0"/>
              <a:t>Method	</a:t>
            </a:r>
            <a:endParaRPr lang="en-US" dirty="0"/>
          </a:p>
        </p:txBody>
      </p:sp>
      <p:sp>
        <p:nvSpPr>
          <p:cNvPr id="3" name="Content Placeholder 2">
            <a:extLst>
              <a:ext uri="{FF2B5EF4-FFF2-40B4-BE49-F238E27FC236}">
                <a16:creationId xmlns:a16="http://schemas.microsoft.com/office/drawing/2014/main" id="{B85A063D-9FE4-3E5B-A654-BB3C3E590A2A}"/>
              </a:ext>
            </a:extLst>
          </p:cNvPr>
          <p:cNvSpPr>
            <a:spLocks noGrp="1"/>
          </p:cNvSpPr>
          <p:nvPr>
            <p:ph idx="1"/>
          </p:nvPr>
        </p:nvSpPr>
        <p:spPr>
          <a:xfrm>
            <a:off x="838200" y="1290917"/>
            <a:ext cx="10515600" cy="4697787"/>
          </a:xfrm>
        </p:spPr>
        <p:txBody>
          <a:bodyPr>
            <a:normAutofit fontScale="70000" lnSpcReduction="20000"/>
          </a:bodyPr>
          <a:lstStyle/>
          <a:p>
            <a:pPr>
              <a:lnSpc>
                <a:spcPct val="120000"/>
              </a:lnSpc>
            </a:pPr>
            <a:r>
              <a:rPr lang="en-US" altLang="zh-CN" dirty="0"/>
              <a:t>This study explores the use of PM sensor data for detecting small fire events by analyzing fine and coarse particulate matter (PM1, PM4). The dataset comes from six stations in Daejeon, South Korea, where several controlled fire events were conducted. The objective is to distinguish true fire ignitions from normal air pollution or background fluctuations.</a:t>
            </a:r>
          </a:p>
          <a:p>
            <a:pPr>
              <a:lnSpc>
                <a:spcPct val="120000"/>
              </a:lnSpc>
            </a:pPr>
            <a:r>
              <a:rPr lang="en-US" altLang="zh-CN" dirty="0"/>
              <a:t>PM1 represents very fine particles (≤1 µm) mainly from smoke, while PM4 (≤4 µm) includes both PM1 and coarser particles like dust or ash. The PM1/PM4 ratio helps differentiate smoke (high ratio) from dust (low ratio). </a:t>
            </a:r>
          </a:p>
          <a:p>
            <a:pPr>
              <a:lnSpc>
                <a:spcPct val="120000"/>
              </a:lnSpc>
            </a:pPr>
            <a:r>
              <a:rPr lang="en-US" altLang="zh-CN" dirty="0"/>
              <a:t>The main challenges are data gaps, unaligned timestamps, and the absence of ground-truth fire labels. Therefore, the approach focuses on building a no-fire baseline, smoothing noisy data, and detecting anomalies based on rapid PM rise, fine-particle dominance, and short-term persistence—key signatures that indicate true fire events.</a:t>
            </a:r>
          </a:p>
        </p:txBody>
      </p:sp>
    </p:spTree>
    <p:extLst>
      <p:ext uri="{BB962C8B-B14F-4D97-AF65-F5344CB8AC3E}">
        <p14:creationId xmlns:p14="http://schemas.microsoft.com/office/powerpoint/2010/main" val="1742810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2EE62-E086-FC04-93BC-1AA6D504D684}"/>
              </a:ext>
            </a:extLst>
          </p:cNvPr>
          <p:cNvSpPr>
            <a:spLocks noGrp="1"/>
          </p:cNvSpPr>
          <p:nvPr>
            <p:ph type="title"/>
          </p:nvPr>
        </p:nvSpPr>
        <p:spPr>
          <a:xfrm>
            <a:off x="107577" y="1048870"/>
            <a:ext cx="3216827" cy="1325563"/>
          </a:xfrm>
        </p:spPr>
        <p:txBody>
          <a:bodyPr>
            <a:normAutofit fontScale="90000"/>
          </a:bodyPr>
          <a:lstStyle/>
          <a:p>
            <a:r>
              <a:rPr lang="en-US" b="1" dirty="0"/>
              <a:t>Station-wise Time Series Results</a:t>
            </a:r>
            <a:br>
              <a:rPr lang="en-US" dirty="0"/>
            </a:br>
            <a:r>
              <a:rPr lang="en-US" i="1" dirty="0"/>
              <a:t>Single-Station Method</a:t>
            </a:r>
            <a:endParaRPr lang="en-US" dirty="0"/>
          </a:p>
        </p:txBody>
      </p:sp>
      <p:pic>
        <p:nvPicPr>
          <p:cNvPr id="4" name="Content Placeholder 3">
            <a:extLst>
              <a:ext uri="{FF2B5EF4-FFF2-40B4-BE49-F238E27FC236}">
                <a16:creationId xmlns:a16="http://schemas.microsoft.com/office/drawing/2014/main" id="{6C546B1E-C718-CD59-A806-A862498CDB67}"/>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3216827" y="161365"/>
            <a:ext cx="8459703" cy="6696635"/>
          </a:xfrm>
          <a:prstGeom prst="rect">
            <a:avLst/>
          </a:prstGeom>
        </p:spPr>
      </p:pic>
      <p:sp>
        <p:nvSpPr>
          <p:cNvPr id="5" name="TextBox 4">
            <a:extLst>
              <a:ext uri="{FF2B5EF4-FFF2-40B4-BE49-F238E27FC236}">
                <a16:creationId xmlns:a16="http://schemas.microsoft.com/office/drawing/2014/main" id="{5DC9FF26-0CDF-F999-5150-53C235C19B40}"/>
              </a:ext>
            </a:extLst>
          </p:cNvPr>
          <p:cNvSpPr txBox="1"/>
          <p:nvPr/>
        </p:nvSpPr>
        <p:spPr>
          <a:xfrm>
            <a:off x="107577" y="3590365"/>
            <a:ext cx="3216827" cy="646331"/>
          </a:xfrm>
          <a:prstGeom prst="rect">
            <a:avLst/>
          </a:prstGeom>
          <a:noFill/>
        </p:spPr>
        <p:txBody>
          <a:bodyPr wrap="square" rtlCol="0">
            <a:spAutoFit/>
          </a:bodyPr>
          <a:lstStyle/>
          <a:p>
            <a:r>
              <a:rPr lang="en-US" altLang="zh-CN" dirty="0"/>
              <a:t>X</a:t>
            </a:r>
            <a:r>
              <a:rPr lang="zh-CN" altLang="en-US" dirty="0"/>
              <a:t> </a:t>
            </a:r>
            <a:r>
              <a:rPr lang="en-US" altLang="zh-CN" dirty="0"/>
              <a:t>axis</a:t>
            </a:r>
            <a:r>
              <a:rPr lang="zh-CN" altLang="en-US" dirty="0"/>
              <a:t> </a:t>
            </a:r>
            <a:r>
              <a:rPr lang="en-US" altLang="zh-CN" dirty="0"/>
              <a:t>is</a:t>
            </a:r>
            <a:r>
              <a:rPr lang="zh-CN" altLang="en-US" dirty="0"/>
              <a:t> </a:t>
            </a:r>
            <a:r>
              <a:rPr lang="en-US" altLang="zh-CN" dirty="0"/>
              <a:t>date</a:t>
            </a:r>
            <a:r>
              <a:rPr lang="zh-CN" altLang="en-US" dirty="0"/>
              <a:t> </a:t>
            </a:r>
            <a:r>
              <a:rPr lang="en-US" altLang="zh-CN" dirty="0"/>
              <a:t>and</a:t>
            </a:r>
            <a:r>
              <a:rPr lang="zh-CN" altLang="en-US" dirty="0"/>
              <a:t> </a:t>
            </a:r>
            <a:r>
              <a:rPr lang="en-US" altLang="zh-CN" dirty="0"/>
              <a:t>time</a:t>
            </a:r>
          </a:p>
          <a:p>
            <a:r>
              <a:rPr lang="en-US" altLang="zh-CN" dirty="0"/>
              <a:t>Y</a:t>
            </a:r>
            <a:r>
              <a:rPr lang="zh-CN" altLang="en-US" dirty="0"/>
              <a:t> </a:t>
            </a:r>
            <a:r>
              <a:rPr lang="en-US" altLang="zh-CN" dirty="0"/>
              <a:t>axis</a:t>
            </a:r>
            <a:r>
              <a:rPr lang="zh-CN" altLang="en-US" dirty="0"/>
              <a:t> </a:t>
            </a:r>
            <a:r>
              <a:rPr lang="en-US" altLang="zh-CN" dirty="0"/>
              <a:t>marks</a:t>
            </a:r>
            <a:r>
              <a:rPr lang="zh-CN" altLang="en-US" dirty="0"/>
              <a:t> </a:t>
            </a:r>
            <a:r>
              <a:rPr lang="en-US" altLang="zh-CN" dirty="0"/>
              <a:t>the</a:t>
            </a:r>
            <a:r>
              <a:rPr lang="zh-CN" altLang="en-US" dirty="0"/>
              <a:t> </a:t>
            </a:r>
            <a:r>
              <a:rPr lang="en-US" altLang="zh-CN" dirty="0"/>
              <a:t>Fire/</a:t>
            </a:r>
            <a:r>
              <a:rPr lang="zh-CN" altLang="en-US" dirty="0"/>
              <a:t> </a:t>
            </a:r>
            <a:r>
              <a:rPr lang="en-US" altLang="zh-CN" dirty="0"/>
              <a:t>No-fire</a:t>
            </a:r>
            <a:endParaRPr lang="en-US" dirty="0"/>
          </a:p>
        </p:txBody>
      </p:sp>
    </p:spTree>
    <p:extLst>
      <p:ext uri="{BB962C8B-B14F-4D97-AF65-F5344CB8AC3E}">
        <p14:creationId xmlns:p14="http://schemas.microsoft.com/office/powerpoint/2010/main" val="152008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FD12B-A031-6FC7-9F22-274634E0E9E9}"/>
              </a:ext>
            </a:extLst>
          </p:cNvPr>
          <p:cNvSpPr>
            <a:spLocks noGrp="1"/>
          </p:cNvSpPr>
          <p:nvPr>
            <p:ph type="title"/>
          </p:nvPr>
        </p:nvSpPr>
        <p:spPr/>
        <p:txBody>
          <a:bodyPr/>
          <a:lstStyle/>
          <a:p>
            <a:r>
              <a:rPr lang="en-US" altLang="zh-CN" dirty="0"/>
              <a:t>Multi-Station</a:t>
            </a:r>
            <a:r>
              <a:rPr lang="zh-CN" altLang="en-US" dirty="0"/>
              <a:t> </a:t>
            </a:r>
            <a:r>
              <a:rPr lang="en-US" altLang="zh-CN" dirty="0"/>
              <a:t>Method</a:t>
            </a:r>
            <a:endParaRPr lang="en-US" dirty="0"/>
          </a:p>
        </p:txBody>
      </p:sp>
      <p:sp>
        <p:nvSpPr>
          <p:cNvPr id="6" name="Content Placeholder 2">
            <a:extLst>
              <a:ext uri="{FF2B5EF4-FFF2-40B4-BE49-F238E27FC236}">
                <a16:creationId xmlns:a16="http://schemas.microsoft.com/office/drawing/2014/main" id="{96272EC9-67C6-7569-5A6B-4E3399D5567D}"/>
              </a:ext>
            </a:extLst>
          </p:cNvPr>
          <p:cNvSpPr>
            <a:spLocks noGrp="1"/>
          </p:cNvSpPr>
          <p:nvPr>
            <p:ph idx="1"/>
          </p:nvPr>
        </p:nvSpPr>
        <p:spPr>
          <a:xfrm>
            <a:off x="838200" y="1290917"/>
            <a:ext cx="10515600" cy="4697787"/>
          </a:xfrm>
        </p:spPr>
        <p:txBody>
          <a:bodyPr>
            <a:normAutofit lnSpcReduction="10000"/>
          </a:bodyPr>
          <a:lstStyle/>
          <a:p>
            <a:pPr>
              <a:lnSpc>
                <a:spcPct val="120000"/>
              </a:lnSpc>
            </a:pPr>
            <a:r>
              <a:rPr lang="en-US" dirty="0"/>
              <a:t>Compared to the single-station method, this approach refines local anomalies into </a:t>
            </a:r>
            <a:r>
              <a:rPr lang="en-US" i="1" dirty="0"/>
              <a:t>true fire events</a:t>
            </a:r>
            <a:r>
              <a:rPr lang="en-US" dirty="0"/>
              <a:t> by enforcing </a:t>
            </a:r>
            <a:r>
              <a:rPr lang="en-US" b="1" dirty="0"/>
              <a:t>spatial–temporal consistency</a:t>
            </a:r>
            <a:r>
              <a:rPr lang="en-US" dirty="0"/>
              <a:t> across multiple sensors.</a:t>
            </a:r>
          </a:p>
          <a:p>
            <a:pPr>
              <a:lnSpc>
                <a:spcPct val="120000"/>
              </a:lnSpc>
            </a:pPr>
            <a:r>
              <a:rPr lang="en-US" dirty="0"/>
              <a:t>Nearby stations are required to respond within </a:t>
            </a:r>
            <a:r>
              <a:rPr lang="en-US" b="1" dirty="0"/>
              <a:t>15 minutes</a:t>
            </a:r>
            <a:r>
              <a:rPr lang="en-US" dirty="0"/>
              <a:t>, with signal peaks decreasing as the distance from ignition increases.</a:t>
            </a:r>
          </a:p>
          <a:p>
            <a:pPr>
              <a:lnSpc>
                <a:spcPct val="120000"/>
              </a:lnSpc>
            </a:pPr>
            <a:r>
              <a:rPr lang="en-US" dirty="0"/>
              <a:t>False alarms are further reduced using </a:t>
            </a:r>
            <a:r>
              <a:rPr lang="en-US" b="1" dirty="0"/>
              <a:t>veto rules</a:t>
            </a:r>
            <a:r>
              <a:rPr lang="en-US" dirty="0"/>
              <a:t>, such as removing cases dominated by humidity or network-wide noise.</a:t>
            </a:r>
          </a:p>
          <a:p>
            <a:pPr>
              <a:lnSpc>
                <a:spcPct val="120000"/>
              </a:lnSpc>
            </a:pPr>
            <a:r>
              <a:rPr lang="en-US" altLang="zh-CN" dirty="0"/>
              <a:t>Future improvement needs incorporate wind direction and speed to better model how particles spread spatially.</a:t>
            </a:r>
          </a:p>
        </p:txBody>
      </p:sp>
    </p:spTree>
    <p:extLst>
      <p:ext uri="{BB962C8B-B14F-4D97-AF65-F5344CB8AC3E}">
        <p14:creationId xmlns:p14="http://schemas.microsoft.com/office/powerpoint/2010/main" val="2674352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5750743-BBDE-4709-50A9-7EB91EF5ADAC}"/>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3750941" y="405784"/>
            <a:ext cx="7934556" cy="6280932"/>
          </a:xfrm>
          <a:prstGeom prst="rect">
            <a:avLst/>
          </a:prstGeom>
        </p:spPr>
      </p:pic>
      <p:sp>
        <p:nvSpPr>
          <p:cNvPr id="7" name="Title 1">
            <a:extLst>
              <a:ext uri="{FF2B5EF4-FFF2-40B4-BE49-F238E27FC236}">
                <a16:creationId xmlns:a16="http://schemas.microsoft.com/office/drawing/2014/main" id="{19324735-AF0F-DC7C-C2E6-BE90FCD61197}"/>
              </a:ext>
            </a:extLst>
          </p:cNvPr>
          <p:cNvSpPr>
            <a:spLocks noGrp="1"/>
          </p:cNvSpPr>
          <p:nvPr>
            <p:ph type="title"/>
          </p:nvPr>
        </p:nvSpPr>
        <p:spPr>
          <a:xfrm>
            <a:off x="107577" y="1048870"/>
            <a:ext cx="3216827" cy="1325563"/>
          </a:xfrm>
        </p:spPr>
        <p:txBody>
          <a:bodyPr>
            <a:normAutofit fontScale="90000"/>
          </a:bodyPr>
          <a:lstStyle/>
          <a:p>
            <a:r>
              <a:rPr lang="en-US" b="1" dirty="0"/>
              <a:t>Station-wise Time Series Results</a:t>
            </a:r>
            <a:br>
              <a:rPr lang="en-US" dirty="0"/>
            </a:br>
            <a:r>
              <a:rPr lang="en-US" i="1" dirty="0"/>
              <a:t>Multi-Station Method</a:t>
            </a:r>
            <a:endParaRPr lang="en-US" dirty="0"/>
          </a:p>
        </p:txBody>
      </p:sp>
    </p:spTree>
    <p:extLst>
      <p:ext uri="{BB962C8B-B14F-4D97-AF65-F5344CB8AC3E}">
        <p14:creationId xmlns:p14="http://schemas.microsoft.com/office/powerpoint/2010/main" val="2043462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6036-9735-7FF4-C683-AA98EDC90597}"/>
              </a:ext>
            </a:extLst>
          </p:cNvPr>
          <p:cNvSpPr>
            <a:spLocks noGrp="1"/>
          </p:cNvSpPr>
          <p:nvPr>
            <p:ph type="title"/>
          </p:nvPr>
        </p:nvSpPr>
        <p:spPr/>
        <p:txBody>
          <a:bodyPr/>
          <a:lstStyle/>
          <a:p>
            <a:r>
              <a:rPr lang="en-US" altLang="zh-CN" dirty="0" err="1"/>
              <a:t>TSPulse</a:t>
            </a:r>
            <a:r>
              <a:rPr lang="zh-CN" altLang="en-US" dirty="0"/>
              <a:t> </a:t>
            </a:r>
            <a:r>
              <a:rPr lang="en-US" altLang="zh-CN" dirty="0"/>
              <a:t>Method</a:t>
            </a:r>
            <a:endParaRPr lang="en-US" dirty="0"/>
          </a:p>
        </p:txBody>
      </p:sp>
      <p:sp>
        <p:nvSpPr>
          <p:cNvPr id="6" name="Content Placeholder 2">
            <a:extLst>
              <a:ext uri="{FF2B5EF4-FFF2-40B4-BE49-F238E27FC236}">
                <a16:creationId xmlns:a16="http://schemas.microsoft.com/office/drawing/2014/main" id="{2EA154F6-07B5-6F3F-98BB-9EF69ED4BCA8}"/>
              </a:ext>
            </a:extLst>
          </p:cNvPr>
          <p:cNvSpPr>
            <a:spLocks noGrp="1"/>
          </p:cNvSpPr>
          <p:nvPr>
            <p:ph idx="1"/>
          </p:nvPr>
        </p:nvSpPr>
        <p:spPr>
          <a:xfrm>
            <a:off x="838200" y="1290917"/>
            <a:ext cx="10515600" cy="4697787"/>
          </a:xfrm>
        </p:spPr>
        <p:txBody>
          <a:bodyPr>
            <a:normAutofit/>
          </a:bodyPr>
          <a:lstStyle/>
          <a:p>
            <a:r>
              <a:rPr lang="en-US" dirty="0"/>
              <a:t>This is a </a:t>
            </a:r>
            <a:r>
              <a:rPr lang="en-US" b="1" dirty="0"/>
              <a:t>machine learning–based </a:t>
            </a:r>
            <a:r>
              <a:rPr lang="en-US" dirty="0"/>
              <a:t>automatic anomaly detection method. It uses the </a:t>
            </a:r>
            <a:r>
              <a:rPr lang="en-US" dirty="0" err="1"/>
              <a:t>TSPulse</a:t>
            </a:r>
            <a:r>
              <a:rPr lang="en-US" dirty="0"/>
              <a:t> model to reconstruct the normal (no-fire) behavior of PM1 and PM4 signals. </a:t>
            </a:r>
          </a:p>
          <a:p>
            <a:r>
              <a:rPr lang="en-US" dirty="0"/>
              <a:t>When the actual sensor readings deviate from the reconstructed baseline, </a:t>
            </a:r>
            <a:r>
              <a:rPr lang="en-US" b="1" dirty="0"/>
              <a:t>the difference is converted into a fire anomaly score</a:t>
            </a:r>
            <a:r>
              <a:rPr lang="en-US" dirty="0"/>
              <a:t>. </a:t>
            </a:r>
          </a:p>
          <a:p>
            <a:r>
              <a:rPr lang="en-US" dirty="0"/>
              <a:t>Periods where the score exceeds a defined threshold are flagged as potential fire events.</a:t>
            </a:r>
          </a:p>
          <a:p>
            <a:r>
              <a:rPr lang="en-US" dirty="0"/>
              <a:t>This method automatically learns temporal patterns, adapts to local sensor behavior, and highlights unusual changes without requiring predefined rules or labeled data.</a:t>
            </a:r>
          </a:p>
          <a:p>
            <a:endParaRPr lang="en-US" dirty="0"/>
          </a:p>
        </p:txBody>
      </p:sp>
    </p:spTree>
    <p:extLst>
      <p:ext uri="{BB962C8B-B14F-4D97-AF65-F5344CB8AC3E}">
        <p14:creationId xmlns:p14="http://schemas.microsoft.com/office/powerpoint/2010/main" val="2009068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13A517F-04D6-2EF8-A0E2-B593F35FAAD6}"/>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3724047" y="459978"/>
            <a:ext cx="8082472" cy="6398022"/>
          </a:xfrm>
          <a:prstGeom prst="rect">
            <a:avLst/>
          </a:prstGeom>
        </p:spPr>
      </p:pic>
      <p:sp>
        <p:nvSpPr>
          <p:cNvPr id="10" name="Title 1">
            <a:extLst>
              <a:ext uri="{FF2B5EF4-FFF2-40B4-BE49-F238E27FC236}">
                <a16:creationId xmlns:a16="http://schemas.microsoft.com/office/drawing/2014/main" id="{A6D80536-DE6B-9971-2183-9E3FB479E87A}"/>
              </a:ext>
            </a:extLst>
          </p:cNvPr>
          <p:cNvSpPr>
            <a:spLocks noGrp="1"/>
          </p:cNvSpPr>
          <p:nvPr>
            <p:ph type="title"/>
          </p:nvPr>
        </p:nvSpPr>
        <p:spPr>
          <a:xfrm>
            <a:off x="107577" y="1048870"/>
            <a:ext cx="3216827" cy="1325563"/>
          </a:xfrm>
        </p:spPr>
        <p:txBody>
          <a:bodyPr>
            <a:normAutofit fontScale="90000"/>
          </a:bodyPr>
          <a:lstStyle/>
          <a:p>
            <a:r>
              <a:rPr lang="en-US" b="1" dirty="0"/>
              <a:t>Station-wise Time Series Results</a:t>
            </a:r>
            <a:br>
              <a:rPr lang="en-US" dirty="0"/>
            </a:br>
            <a:r>
              <a:rPr lang="en-US" altLang="zh-CN" i="1" dirty="0" err="1"/>
              <a:t>TSPulse</a:t>
            </a:r>
            <a:r>
              <a:rPr lang="en-US" i="1" dirty="0"/>
              <a:t> Method</a:t>
            </a:r>
            <a:endParaRPr lang="en-US" dirty="0"/>
          </a:p>
        </p:txBody>
      </p:sp>
    </p:spTree>
    <p:extLst>
      <p:ext uri="{BB962C8B-B14F-4D97-AF65-F5344CB8AC3E}">
        <p14:creationId xmlns:p14="http://schemas.microsoft.com/office/powerpoint/2010/main" val="2749899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483DC-84C5-EA0F-E71C-BC7739A25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AAA19-9362-A6DB-0A76-6F2D304F4268}"/>
              </a:ext>
            </a:extLst>
          </p:cNvPr>
          <p:cNvSpPr>
            <a:spLocks noGrp="1"/>
          </p:cNvSpPr>
          <p:nvPr>
            <p:ph type="title"/>
          </p:nvPr>
        </p:nvSpPr>
        <p:spPr>
          <a:xfrm>
            <a:off x="0" y="1588808"/>
            <a:ext cx="2740958" cy="1325563"/>
          </a:xfrm>
        </p:spPr>
        <p:txBody>
          <a:bodyPr>
            <a:normAutofit fontScale="90000"/>
          </a:bodyPr>
          <a:lstStyle/>
          <a:p>
            <a:r>
              <a:rPr lang="en-US" altLang="zh-CN" dirty="0"/>
              <a:t>Results</a:t>
            </a:r>
            <a:br>
              <a:rPr lang="en-US" altLang="zh-CN" dirty="0"/>
            </a:br>
            <a:r>
              <a:rPr lang="en-US" altLang="zh-CN" dirty="0"/>
              <a:t>Comparison</a:t>
            </a:r>
            <a:br>
              <a:rPr lang="en-US" altLang="zh-CN" dirty="0"/>
            </a:br>
            <a:r>
              <a:rPr lang="en-US" altLang="zh-CN" dirty="0"/>
              <a:t>between single-station and </a:t>
            </a:r>
            <a:r>
              <a:rPr lang="en-US" altLang="zh-CN" dirty="0" err="1"/>
              <a:t>TSPulse</a:t>
            </a:r>
            <a:endParaRPr lang="en-US" dirty="0"/>
          </a:p>
        </p:txBody>
      </p:sp>
      <p:pic>
        <p:nvPicPr>
          <p:cNvPr id="7" name="Picture 6" descr="A diagram of a fire event&#10;&#10;AI-generated content may be incorrect.">
            <a:extLst>
              <a:ext uri="{FF2B5EF4-FFF2-40B4-BE49-F238E27FC236}">
                <a16:creationId xmlns:a16="http://schemas.microsoft.com/office/drawing/2014/main" id="{85658489-45A2-F18F-4353-BEB476B1743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740958" y="29419"/>
            <a:ext cx="9173136" cy="6809752"/>
          </a:xfrm>
          <a:prstGeom prst="rect">
            <a:avLst/>
          </a:prstGeom>
        </p:spPr>
      </p:pic>
    </p:spTree>
    <p:extLst>
      <p:ext uri="{BB962C8B-B14F-4D97-AF65-F5344CB8AC3E}">
        <p14:creationId xmlns:p14="http://schemas.microsoft.com/office/powerpoint/2010/main" val="2159861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F8DF7-AC9E-59D9-1EBD-7401837AB9EE}"/>
              </a:ext>
            </a:extLst>
          </p:cNvPr>
          <p:cNvSpPr>
            <a:spLocks noGrp="1"/>
          </p:cNvSpPr>
          <p:nvPr>
            <p:ph type="title"/>
          </p:nvPr>
        </p:nvSpPr>
        <p:spPr>
          <a:xfrm>
            <a:off x="0" y="1588808"/>
            <a:ext cx="2740958" cy="1325563"/>
          </a:xfrm>
        </p:spPr>
        <p:txBody>
          <a:bodyPr>
            <a:normAutofit fontScale="90000"/>
          </a:bodyPr>
          <a:lstStyle/>
          <a:p>
            <a:r>
              <a:rPr lang="en-US" altLang="zh-CN" dirty="0"/>
              <a:t>Results</a:t>
            </a:r>
            <a:br>
              <a:rPr lang="en-US" altLang="zh-CN" dirty="0"/>
            </a:br>
            <a:r>
              <a:rPr lang="en-US" altLang="zh-CN" dirty="0"/>
              <a:t>Comparison among three methods</a:t>
            </a:r>
            <a:endParaRPr lang="en-US" dirty="0"/>
          </a:p>
        </p:txBody>
      </p:sp>
      <p:pic>
        <p:nvPicPr>
          <p:cNvPr id="7" name="Picture 6" descr="A diagram of a graph&#10;&#10;AI-generated content may be incorrect.">
            <a:extLst>
              <a:ext uri="{FF2B5EF4-FFF2-40B4-BE49-F238E27FC236}">
                <a16:creationId xmlns:a16="http://schemas.microsoft.com/office/drawing/2014/main" id="{91D82F7F-D685-9C28-B5F9-D2C9422EE49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740957" y="29419"/>
            <a:ext cx="9132795" cy="6779804"/>
          </a:xfrm>
          <a:prstGeom prst="rect">
            <a:avLst/>
          </a:prstGeom>
        </p:spPr>
      </p:pic>
    </p:spTree>
    <p:extLst>
      <p:ext uri="{BB962C8B-B14F-4D97-AF65-F5344CB8AC3E}">
        <p14:creationId xmlns:p14="http://schemas.microsoft.com/office/powerpoint/2010/main" val="1593699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6B283-BFF1-71F2-D0AD-6E5074A604F6}"/>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4AD177A0-CEFC-953C-11F7-5FDC6FD01B1F}"/>
              </a:ext>
            </a:extLst>
          </p:cNvPr>
          <p:cNvSpPr>
            <a:spLocks noGrp="1"/>
          </p:cNvSpPr>
          <p:nvPr>
            <p:ph idx="1"/>
          </p:nvPr>
        </p:nvSpPr>
        <p:spPr/>
        <p:txBody>
          <a:bodyPr/>
          <a:lstStyle/>
          <a:p>
            <a:pPr marL="0" indent="0">
              <a:buNone/>
            </a:pPr>
            <a:r>
              <a:rPr lang="en-US" dirty="0"/>
              <a:t>Overall, the three methods each have their own strengths and characteristics.</a:t>
            </a:r>
            <a:br>
              <a:rPr lang="en-US" dirty="0"/>
            </a:br>
            <a:r>
              <a:rPr lang="en-US" dirty="0"/>
              <a:t>All of them require adjustment of parameters and fine-tuning based on real labeled data,</a:t>
            </a:r>
            <a:br>
              <a:rPr lang="en-US" dirty="0"/>
            </a:br>
            <a:r>
              <a:rPr lang="en-US" dirty="0"/>
              <a:t>so that the detection results can better match the actual fire events and application needs.</a:t>
            </a:r>
          </a:p>
        </p:txBody>
      </p:sp>
    </p:spTree>
    <p:extLst>
      <p:ext uri="{BB962C8B-B14F-4D97-AF65-F5344CB8AC3E}">
        <p14:creationId xmlns:p14="http://schemas.microsoft.com/office/powerpoint/2010/main" val="33613505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687</TotalTime>
  <Words>535</Words>
  <Application>Microsoft Macintosh PowerPoint</Application>
  <PresentationFormat>Widescreen</PresentationFormat>
  <Paragraphs>32</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Wildfire Detection from N2 Sensor Network – Initial Results</vt:lpstr>
      <vt:lpstr>Introduction</vt:lpstr>
      <vt:lpstr>Single-Station Method </vt:lpstr>
      <vt:lpstr>Station-wise Time Series Results Single-Station Method</vt:lpstr>
      <vt:lpstr>Multi-Station Method</vt:lpstr>
      <vt:lpstr>Station-wise Time Series Results Multi-Station Method</vt:lpstr>
      <vt:lpstr>TSPulse Method</vt:lpstr>
      <vt:lpstr>Station-wise Time Series Results TSPulse Method</vt:lpstr>
      <vt:lpstr>Results Comparison between single-station and TSPulse</vt:lpstr>
      <vt:lpstr>Results Comparison among three methods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Jingjing Peng</dc:creator>
  <cp:lastModifiedBy>Jingjing Peng</cp:lastModifiedBy>
  <cp:revision>4</cp:revision>
  <dcterms:created xsi:type="dcterms:W3CDTF">2025-10-06T03:00:42Z</dcterms:created>
  <dcterms:modified xsi:type="dcterms:W3CDTF">2025-10-10T01:24:38Z</dcterms:modified>
</cp:coreProperties>
</file>