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77" r:id="rId4"/>
    <p:sldId id="271" r:id="rId5"/>
    <p:sldId id="272" r:id="rId6"/>
    <p:sldId id="259" r:id="rId7"/>
    <p:sldId id="258" r:id="rId8"/>
    <p:sldId id="273" r:id="rId9"/>
    <p:sldId id="262" r:id="rId10"/>
    <p:sldId id="263" r:id="rId11"/>
    <p:sldId id="261" r:id="rId12"/>
    <p:sldId id="269" r:id="rId13"/>
    <p:sldId id="267" r:id="rId14"/>
    <p:sldId id="270" r:id="rId15"/>
    <p:sldId id="264" r:id="rId16"/>
    <p:sldId id="274" r:id="rId17"/>
    <p:sldId id="275" r:id="rId18"/>
    <p:sldId id="279" r:id="rId19"/>
    <p:sldId id="276" r:id="rId20"/>
    <p:sldId id="278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30"/>
    <p:restoredTop sz="94666"/>
  </p:normalViewPr>
  <p:slideViewPr>
    <p:cSldViewPr snapToGrid="0">
      <p:cViewPr>
        <p:scale>
          <a:sx n="92" d="100"/>
          <a:sy n="92" d="100"/>
        </p:scale>
        <p:origin x="1448" y="6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A81DFD-A5FA-4542-8739-FCF625AE60C9}" type="datetimeFigureOut">
              <a:rPr lang="en-US" smtClean="0"/>
              <a:t>10/9/25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805133-EA75-AB4C-9F41-9270E60161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529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805133-EA75-AB4C-9F41-9270E60161D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312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4E8CC-4D63-84C5-2418-F903D40BFD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EC24AC-EB6D-0C50-A5CD-71E9E30A71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3D2180-3055-1DC4-B0B1-2E63984BB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55E4E-43AD-6D46-832C-EC7D137C66E1}" type="datetimeFigureOut">
              <a:rPr lang="en-US" smtClean="0"/>
              <a:t>10/9/25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2B39D-55EA-4823-E128-2572F81EA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80A2DA-FC9F-69B0-2356-D97F1E910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66F2F-84BD-9F4B-8CC4-E4CBC9144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54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6FF2C-41E5-5E4B-4018-01CE9B291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E859A-1E0B-49D0-E5AA-9273E8A36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B6429E-148F-ADC8-4B47-89EA6F4E3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55E4E-43AD-6D46-832C-EC7D137C66E1}" type="datetimeFigureOut">
              <a:rPr lang="en-US" smtClean="0"/>
              <a:t>10/9/25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5F07AB-609F-F672-1BD4-3F0641EE2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88AC3-DD9E-ED38-65EB-32E641A47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66F2F-84BD-9F4B-8CC4-E4CBC9144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333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D3E22-C3DD-84CB-EA4B-26E80F673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284FAD-44A6-1BFD-6595-46343AAC05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FB8677-5BC0-C104-5CB9-C2F766AA9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55E4E-43AD-6D46-832C-EC7D137C66E1}" type="datetimeFigureOut">
              <a:rPr lang="en-US" smtClean="0"/>
              <a:t>10/9/25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B5A42-C8F2-D622-0AF1-2537E1AEB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E03A8F-8C3B-50E8-7CC4-897034F54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66F2F-84BD-9F4B-8CC4-E4CBC9144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505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1B83C-576E-21D7-7137-6A3BBAE1D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3A423B-C6FB-9290-C5BE-93ED50AD13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36B338-1EEA-A4E0-722A-04563D6C7E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25A8B8-795C-4270-C3E0-EF7F0DF44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55E4E-43AD-6D46-832C-EC7D137C66E1}" type="datetimeFigureOut">
              <a:rPr lang="en-US" smtClean="0"/>
              <a:t>10/9/25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BBB945-E85B-AC89-1BE2-9713B548A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51E234-9D83-6E47-DC29-F886E4168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66F2F-84BD-9F4B-8CC4-E4CBC9144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093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CA457-3E95-E582-BE35-401B278F6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9F58E3-D898-32D1-ABFE-FB191D421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12D14B-37DB-AA1F-75BF-DC58353ADA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2B044C-DC21-5E65-C54B-F49A962EE0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A796E5-2CAF-25B6-8D54-7E41EC368E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71C674-BDAC-1438-97DD-F85C3055A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55E4E-43AD-6D46-832C-EC7D137C66E1}" type="datetimeFigureOut">
              <a:rPr lang="en-US" smtClean="0"/>
              <a:t>10/9/25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AA9962-52D3-905C-498B-9154A608E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6A91BD-B35D-2496-AF2F-D3B046CD2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66F2F-84BD-9F4B-8CC4-E4CBC9144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99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F05FB-9A47-BDFD-E1ED-0B5EE22A2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535CA1-E734-C3F5-5922-434AA216F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55E4E-43AD-6D46-832C-EC7D137C66E1}" type="datetimeFigureOut">
              <a:rPr lang="en-US" smtClean="0"/>
              <a:t>10/9/25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5D7A9F-94FF-4414-096C-396AE8DCF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FCFB1A-F8EE-DD43-DB13-DA8342DBE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66F2F-84BD-9F4B-8CC4-E4CBC9144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200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535FC8-8B1D-FD89-CFF1-704B075C4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55E4E-43AD-6D46-832C-EC7D137C66E1}" type="datetimeFigureOut">
              <a:rPr lang="en-US" smtClean="0"/>
              <a:t>10/9/25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D055FF-A0C8-4FA8-B0DB-FA5BB5863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FA2E57-C091-53E8-3276-ED1503636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66F2F-84BD-9F4B-8CC4-E4CBC9144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967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88301-122D-522D-BD89-ACC103709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2F760-D6B9-4F04-CA91-8E1C7D0D7F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E37FCD-782A-79AB-3A69-FE9FB2E7A8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D69335-85D7-0B1F-E28D-985E2B66B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55E4E-43AD-6D46-832C-EC7D137C66E1}" type="datetimeFigureOut">
              <a:rPr lang="en-US" smtClean="0"/>
              <a:t>10/9/25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D392E3-81C1-8BD1-1DF2-84199CF4F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A807CC-33B4-1ACD-3D48-F63CCDBAD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66F2F-84BD-9F4B-8CC4-E4CBC9144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524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56F4A-37ED-6C0E-E2B9-24A6A18E3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2CDAAF-025B-CB55-6CBE-06B428D0AF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AA7830-022F-668F-D976-666563AD73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1CF5FE-3B5D-F638-6613-71D66D9C8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55E4E-43AD-6D46-832C-EC7D137C66E1}" type="datetimeFigureOut">
              <a:rPr lang="en-US" smtClean="0"/>
              <a:t>10/9/25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5E3A18-897C-FB82-548D-534CF93BD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168D5A-50C3-C636-0EDC-4D019A13B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66F2F-84BD-9F4B-8CC4-E4CBC9144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577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4E18D-5B06-D79F-1B7C-422D7CA00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1E802C-8F3C-E542-F3D2-BA588E2647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F514D0-347A-FCB3-44D7-509DBC040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55E4E-43AD-6D46-832C-EC7D137C66E1}" type="datetimeFigureOut">
              <a:rPr lang="en-US" smtClean="0"/>
              <a:t>10/9/25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F53EB4-0F1A-E2F1-1394-534CCFE71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1C776A-D3A4-D46B-0ACC-72389E02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66F2F-84BD-9F4B-8CC4-E4CBC9144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621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DC95D5-8ECE-0081-08D6-6C6E9117D3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AB6E7-5DDB-0D4E-5BF6-FA40B28475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3A1A26-D1C5-6C00-090D-EF90CB73D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55E4E-43AD-6D46-832C-EC7D137C66E1}" type="datetimeFigureOut">
              <a:rPr lang="en-US" smtClean="0"/>
              <a:t>10/9/25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FC9096-ADE9-83F7-C3EE-CC6E8166E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07B51-412D-AE8F-119B-474382F89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66F2F-84BD-9F4B-8CC4-E4CBC9144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781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058133-F8A1-F840-C7CA-0E9679D56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C6A5F0-6B14-7DF6-0E75-144B3A41FE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C1362D-1FF4-C423-F9AB-EE1095B837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855E4E-43AD-6D46-832C-EC7D137C66E1}" type="datetimeFigureOut">
              <a:rPr lang="en-US" smtClean="0"/>
              <a:t>10/9/25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20E2E1-C465-DA14-9DEC-C413415BBA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8534B-2674-A091-2B28-0AE1893BB0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566F2F-84BD-9F4B-8CC4-E4CBC9144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387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08D2F-518F-9696-DA85-38AE554278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Wildfire Detection from </a:t>
            </a:r>
            <a:r>
              <a:rPr lang="en-US" altLang="zh-CN" dirty="0"/>
              <a:t>PM</a:t>
            </a:r>
            <a:r>
              <a:rPr lang="en-US" dirty="0"/>
              <a:t> Sensor Network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3F3A6D-AB69-3BFE-4EC3-E98875097C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Lizhao</a:t>
            </a:r>
            <a:r>
              <a:rPr lang="en-US" dirty="0"/>
              <a:t> Wang</a:t>
            </a:r>
          </a:p>
        </p:txBody>
      </p:sp>
    </p:spTree>
    <p:extLst>
      <p:ext uri="{BB962C8B-B14F-4D97-AF65-F5344CB8AC3E}">
        <p14:creationId xmlns:p14="http://schemas.microsoft.com/office/powerpoint/2010/main" val="1749376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88214-96B2-25CD-005A-058E4E34D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Background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6A398-E890-98A8-C71C-955BC64217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Fire combustion produces very fine smoke particles (PM1) that rise sharply, while PM4 rises more moderately.</a:t>
            </a:r>
          </a:p>
          <a:p>
            <a:r>
              <a:rPr lang="en-US" dirty="0"/>
              <a:t>The PM1 / PM4 ratio distinguishes fire smoke (fine, fresh particles) from dust (coarse particles).</a:t>
            </a:r>
          </a:p>
          <a:p>
            <a:r>
              <a:rPr lang="en-US" dirty="0"/>
              <a:t>Short-term bursts are physically linked to ignition or flame activity, not gradual pollution buildup.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907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2749EE71-DCC6-76E4-8337-518D758C7F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072" y="0"/>
            <a:ext cx="69262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B243164-71A8-5F4C-96F8-C25AA9852AA2}"/>
              </a:ext>
            </a:extLst>
          </p:cNvPr>
          <p:cNvSpPr txBox="1"/>
          <p:nvPr/>
        </p:nvSpPr>
        <p:spPr>
          <a:xfrm>
            <a:off x="7944728" y="1789165"/>
            <a:ext cx="404094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These sites are in </a:t>
            </a: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Daejeon, South Korea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Five of them cluster around a lake, and one is away from them in the south.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4833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466F3-CE82-40F5-4003-3FC95AE0D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Data</a:t>
            </a:r>
            <a:r>
              <a:rPr lang="zh-CN" altLang="en-US" dirty="0"/>
              <a:t> </a:t>
            </a:r>
            <a:r>
              <a:rPr lang="en-US" altLang="zh-CN" dirty="0"/>
              <a:t>Preprocessing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F9D52-53FA-C6F3-C6F5-139C567274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Resample raw sensor data to 30 s intervals using median aggregation.</a:t>
            </a:r>
          </a:p>
          <a:p>
            <a:r>
              <a:rPr lang="en-US" dirty="0"/>
              <a:t>Apply 1-minute rolling median to suppress outliers.</a:t>
            </a:r>
          </a:p>
          <a:p>
            <a:r>
              <a:rPr lang="en-US" dirty="0"/>
              <a:t>Apply exponential moving average (~3 min span) for smooth trends.</a:t>
            </a:r>
          </a:p>
          <a:p>
            <a:r>
              <a:rPr lang="en-US" dirty="0"/>
              <a:t>Derive baseline using diurnal median and compute Z-scores for normalized comparison.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0693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97575-6A45-11EF-096C-77FDC7CCA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No-fire</a:t>
            </a:r>
            <a:r>
              <a:rPr lang="zh-CN" altLang="en-US" dirty="0"/>
              <a:t> </a:t>
            </a:r>
            <a:r>
              <a:rPr lang="en-US" altLang="zh-CN" dirty="0"/>
              <a:t>baseline</a:t>
            </a: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796084F-7EC8-0160-43E1-FE7AF942BBC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553" y="1825625"/>
            <a:ext cx="10148893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0653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349B8-0A57-2EE5-C9E0-73B3D4EBC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Single-Station-Method</a:t>
            </a:r>
            <a:r>
              <a:rPr lang="zh-CN" altLang="en-US" dirty="0"/>
              <a:t> </a:t>
            </a:r>
            <a:r>
              <a:rPr lang="en-US" altLang="zh-CN" dirty="0"/>
              <a:t>Assumptions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9BF97-34A1-5675-9D50-D3FFAF7BEC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station can detect local fire behavior independently.</a:t>
            </a:r>
          </a:p>
          <a:p>
            <a:r>
              <a:rPr lang="en-US" dirty="0"/>
              <a:t>Sensor baselines are relatively stable within short windows (few hours).</a:t>
            </a:r>
          </a:p>
          <a:p>
            <a:r>
              <a:rPr lang="en-US" dirty="0"/>
              <a:t>Environmental noise (humidity, dust) can be filtered by PM ratio and duration checks.</a:t>
            </a:r>
          </a:p>
        </p:txBody>
      </p:sp>
    </p:spTree>
    <p:extLst>
      <p:ext uri="{BB962C8B-B14F-4D97-AF65-F5344CB8AC3E}">
        <p14:creationId xmlns:p14="http://schemas.microsoft.com/office/powerpoint/2010/main" val="5229399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6BB16-56B8-6ACB-E1F0-9C1E65E9A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Single-Station-Method</a:t>
            </a:r>
            <a:r>
              <a:rPr lang="zh-CN" altLang="en-US" dirty="0"/>
              <a:t> </a:t>
            </a:r>
            <a:r>
              <a:rPr lang="en-US" altLang="zh-CN" dirty="0"/>
              <a:t>Rules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AD2D1-68A8-7BD1-E264-67C34742B7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Intensity </a:t>
            </a:r>
            <a:r>
              <a:rPr lang="en-US" altLang="zh-CN" b="1" dirty="0"/>
              <a:t>:</a:t>
            </a:r>
            <a:r>
              <a:rPr lang="zh-CN" altLang="en-US" b="1" dirty="0"/>
              <a:t> </a:t>
            </a:r>
            <a:r>
              <a:rPr lang="en-US" dirty="0"/>
              <a:t>zPM1&gt;2.5 (large anomaly in fine particles)</a:t>
            </a:r>
            <a:endParaRPr lang="en-US" b="1" dirty="0"/>
          </a:p>
          <a:p>
            <a:r>
              <a:rPr lang="en-US" b="1" dirty="0"/>
              <a:t>Temporal:</a:t>
            </a:r>
            <a:r>
              <a:rPr lang="en-US" dirty="0"/>
              <a:t> rate of change (dPM1 / dt)</a:t>
            </a:r>
          </a:p>
          <a:p>
            <a:r>
              <a:rPr lang="en-US" b="1" dirty="0"/>
              <a:t>Composition:</a:t>
            </a:r>
            <a:r>
              <a:rPr lang="en-US" dirty="0"/>
              <a:t> z</a:t>
            </a:r>
            <a:r>
              <a:rPr lang="en-US" altLang="zh-CN" dirty="0"/>
              <a:t>(PM1/PM4)</a:t>
            </a:r>
            <a:r>
              <a:rPr lang="zh-CN" altLang="en-US" dirty="0"/>
              <a:t> </a:t>
            </a:r>
            <a:r>
              <a:rPr lang="en-US" dirty="0"/>
              <a:t>&gt;1 (fine particles are dominant, to remove air pollution )</a:t>
            </a:r>
          </a:p>
        </p:txBody>
      </p:sp>
    </p:spTree>
    <p:extLst>
      <p:ext uri="{BB962C8B-B14F-4D97-AF65-F5344CB8AC3E}">
        <p14:creationId xmlns:p14="http://schemas.microsoft.com/office/powerpoint/2010/main" val="1278265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2EE62-E086-FC04-93BC-1AA6D504D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841" y="1048870"/>
            <a:ext cx="2977563" cy="1325563"/>
          </a:xfrm>
        </p:spPr>
        <p:txBody>
          <a:bodyPr>
            <a:noAutofit/>
          </a:bodyPr>
          <a:lstStyle/>
          <a:p>
            <a:r>
              <a:rPr lang="en-US" sz="3600" b="1" dirty="0"/>
              <a:t>Station-wise Time Series Results</a:t>
            </a:r>
            <a:br>
              <a:rPr lang="en-US" sz="3600" dirty="0"/>
            </a:br>
            <a:r>
              <a:rPr lang="en-US" sz="3600" i="1" dirty="0"/>
              <a:t>Single-Station Method</a:t>
            </a:r>
            <a:endParaRPr lang="en-US" sz="36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C546B1E-C718-CD59-A806-A862498CDB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16827" y="161365"/>
            <a:ext cx="8459703" cy="669663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DC9FF26-0CDF-F999-5150-53C235C19B40}"/>
              </a:ext>
            </a:extLst>
          </p:cNvPr>
          <p:cNvSpPr txBox="1"/>
          <p:nvPr/>
        </p:nvSpPr>
        <p:spPr>
          <a:xfrm>
            <a:off x="346841" y="3429000"/>
            <a:ext cx="263809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X</a:t>
            </a:r>
            <a:r>
              <a:rPr lang="zh-CN" altLang="en-US" dirty="0"/>
              <a:t> </a:t>
            </a:r>
            <a:r>
              <a:rPr lang="en-US" altLang="zh-CN" dirty="0"/>
              <a:t>axis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date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time. </a:t>
            </a:r>
            <a:r>
              <a:rPr lang="en-US"/>
              <a:t>The position of the red bar indicates when the fire occurred, and its width represents the duration of the fire.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Y</a:t>
            </a:r>
            <a:r>
              <a:rPr lang="zh-CN" altLang="en-US" dirty="0"/>
              <a:t> </a:t>
            </a:r>
            <a:r>
              <a:rPr lang="en-US" altLang="zh-CN" dirty="0"/>
              <a:t>axis</a:t>
            </a:r>
            <a:r>
              <a:rPr lang="zh-CN" altLang="en-US" dirty="0"/>
              <a:t> </a:t>
            </a:r>
            <a:r>
              <a:rPr lang="en-US" altLang="zh-CN" dirty="0"/>
              <a:t>marks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Fire/</a:t>
            </a:r>
            <a:r>
              <a:rPr lang="zh-CN" altLang="en-US" dirty="0"/>
              <a:t> </a:t>
            </a:r>
            <a:r>
              <a:rPr lang="en-US" altLang="zh-CN" dirty="0"/>
              <a:t>No-fire (binary flag)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00800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CC17C-BDF6-90DF-259F-DD7079A7D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</a:t>
            </a:r>
            <a:r>
              <a:rPr lang="en-US" altLang="zh-CN" dirty="0"/>
              <a:t>-Station</a:t>
            </a:r>
            <a:r>
              <a:rPr lang="zh-CN" altLang="en-US" dirty="0"/>
              <a:t> </a:t>
            </a:r>
            <a:r>
              <a:rPr lang="en-US" altLang="zh-CN" dirty="0"/>
              <a:t>Method</a:t>
            </a:r>
            <a:r>
              <a:rPr lang="zh-CN" altLang="en-US" dirty="0"/>
              <a:t> </a:t>
            </a:r>
            <a:r>
              <a:rPr lang="en-US" altLang="zh-CN" dirty="0"/>
              <a:t>Assumptions	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30F46-2655-A958-80A9-FBE599D594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Real fires generate plumes that spread spatially, influencing nearby stations sequentially.</a:t>
            </a:r>
          </a:p>
          <a:p>
            <a:r>
              <a:rPr lang="en-US" dirty="0"/>
              <a:t>Signal magnitude decays with distance due to dispersion; arrival timing reflects plume movement.</a:t>
            </a:r>
          </a:p>
          <a:p>
            <a:r>
              <a:rPr lang="en-US" dirty="0"/>
              <a:t>Dust or pollution, in contrast, shows weak spatial gradients and slow co-occurrence.</a:t>
            </a:r>
          </a:p>
        </p:txBody>
      </p:sp>
    </p:spTree>
    <p:extLst>
      <p:ext uri="{BB962C8B-B14F-4D97-AF65-F5344CB8AC3E}">
        <p14:creationId xmlns:p14="http://schemas.microsoft.com/office/powerpoint/2010/main" val="10705468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B2D7A-E11F-43B2-F5B5-759DD9501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</a:t>
            </a:r>
            <a:r>
              <a:rPr lang="en-US" altLang="zh-CN" dirty="0"/>
              <a:t>-Station-</a:t>
            </a:r>
            <a:r>
              <a:rPr lang="zh-CN" altLang="en-US" dirty="0"/>
              <a:t> </a:t>
            </a:r>
            <a:r>
              <a:rPr lang="en-US" altLang="zh-CN" dirty="0"/>
              <a:t>Rules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4915A-82E6-82F5-3B52-15AEAED5F0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Same</a:t>
            </a:r>
            <a:r>
              <a:rPr lang="zh-CN" altLang="en-US" dirty="0"/>
              <a:t> </a:t>
            </a:r>
            <a:r>
              <a:rPr lang="en-US" altLang="zh-CN" dirty="0"/>
              <a:t>rules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Single-Station-Method</a:t>
            </a:r>
            <a:endParaRPr lang="en-US" dirty="0"/>
          </a:p>
          <a:p>
            <a:r>
              <a:rPr lang="en-US" b="1" dirty="0"/>
              <a:t>Temporal:</a:t>
            </a:r>
            <a:r>
              <a:rPr lang="zh-CN" altLang="en-US" b="1" dirty="0"/>
              <a:t> </a:t>
            </a:r>
            <a:r>
              <a:rPr lang="en-US" altLang="zh-CN" dirty="0"/>
              <a:t>a</a:t>
            </a:r>
            <a:r>
              <a:rPr lang="en-US" dirty="0"/>
              <a:t>djacent stations respond within 15 minutes if the same event occurs.</a:t>
            </a:r>
          </a:p>
          <a:p>
            <a:r>
              <a:rPr lang="en-US" b="1" dirty="0"/>
              <a:t>Spatial:</a:t>
            </a:r>
            <a:r>
              <a:rPr lang="en-US" dirty="0"/>
              <a:t> correlation, distance decay, cross-correlation lag (&lt; 15 min)</a:t>
            </a:r>
          </a:p>
          <a:p>
            <a:r>
              <a:rPr lang="en-US" altLang="zh-CN" b="1" dirty="0"/>
              <a:t>Veto</a:t>
            </a:r>
            <a:r>
              <a:rPr lang="en-US" altLang="zh-CN" dirty="0"/>
              <a:t>:</a:t>
            </a:r>
            <a:r>
              <a:rPr lang="zh-CN" altLang="en-US" dirty="0"/>
              <a:t>  </a:t>
            </a:r>
            <a:endParaRPr lang="en-US" altLang="zh-CN" dirty="0"/>
          </a:p>
          <a:p>
            <a:pPr lvl="1"/>
            <a:r>
              <a:rPr lang="en-US" altLang="zh-CN" dirty="0"/>
              <a:t>RH</a:t>
            </a:r>
            <a:r>
              <a:rPr lang="zh-CN" altLang="en-US" dirty="0"/>
              <a:t> </a:t>
            </a:r>
            <a:r>
              <a:rPr lang="en-US" altLang="zh-CN" dirty="0"/>
              <a:t>&gt;85%</a:t>
            </a:r>
            <a:r>
              <a:rPr lang="zh-CN" altLang="en-US" dirty="0"/>
              <a:t> </a:t>
            </a:r>
            <a:endParaRPr lang="en-US" altLang="zh-CN" dirty="0"/>
          </a:p>
          <a:p>
            <a:pPr lvl="1"/>
            <a:r>
              <a:rPr lang="en-US" dirty="0"/>
              <a:t>more than ~50% of all stations show a spike</a:t>
            </a:r>
          </a:p>
        </p:txBody>
      </p:sp>
    </p:spTree>
    <p:extLst>
      <p:ext uri="{BB962C8B-B14F-4D97-AF65-F5344CB8AC3E}">
        <p14:creationId xmlns:p14="http://schemas.microsoft.com/office/powerpoint/2010/main" val="9557146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5750743-BBDE-4709-50A9-7EB91EF5AD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50941" y="405784"/>
            <a:ext cx="7934556" cy="6280932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19324735-AF0F-DC7C-C2E6-BE90FCD61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290" y="1048870"/>
            <a:ext cx="3030114" cy="1325563"/>
          </a:xfrm>
        </p:spPr>
        <p:txBody>
          <a:bodyPr>
            <a:noAutofit/>
          </a:bodyPr>
          <a:lstStyle/>
          <a:p>
            <a:r>
              <a:rPr lang="en-US" sz="3600" b="1" dirty="0"/>
              <a:t>Station-wise Time Series Results</a:t>
            </a:r>
            <a:br>
              <a:rPr lang="en-US" sz="3600" dirty="0"/>
            </a:br>
            <a:r>
              <a:rPr lang="en-US" sz="3600" i="1" dirty="0"/>
              <a:t>Multi-Station Method</a:t>
            </a:r>
            <a:endParaRPr lang="en-US" sz="3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875705-844E-8744-D49C-8E5E18B1283F}"/>
              </a:ext>
            </a:extLst>
          </p:cNvPr>
          <p:cNvSpPr txBox="1"/>
          <p:nvPr/>
        </p:nvSpPr>
        <p:spPr>
          <a:xfrm>
            <a:off x="441434" y="3636579"/>
            <a:ext cx="288297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The number of detected fire events has decreased, and the specific parameters still need some adjustment.</a:t>
            </a:r>
          </a:p>
        </p:txBody>
      </p:sp>
    </p:spTree>
    <p:extLst>
      <p:ext uri="{BB962C8B-B14F-4D97-AF65-F5344CB8AC3E}">
        <p14:creationId xmlns:p14="http://schemas.microsoft.com/office/powerpoint/2010/main" val="20434626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FB2FB-5CFF-BA76-5DA3-40EF664AE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TSPulse</a:t>
            </a:r>
            <a:r>
              <a:rPr lang="en-US" altLang="zh-CN" dirty="0"/>
              <a:t>-Method</a:t>
            </a:r>
            <a:r>
              <a:rPr lang="zh-CN" altLang="en-US" dirty="0"/>
              <a:t> </a:t>
            </a:r>
            <a:r>
              <a:rPr lang="en-US" altLang="zh-CN" dirty="0"/>
              <a:t>Theory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CB8BE-608D-DCE4-FF9D-C6970E3A0F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TSPulse</a:t>
            </a:r>
            <a:r>
              <a:rPr lang="en-US" dirty="0"/>
              <a:t> can model normal temporal dynamics without explicit labels.</a:t>
            </a:r>
          </a:p>
          <a:p>
            <a:r>
              <a:rPr lang="en-US" dirty="0"/>
              <a:t>High reconstruction error corresponds to abnormal physical conditions (e.g., smoke spike).</a:t>
            </a:r>
          </a:p>
          <a:p>
            <a:r>
              <a:rPr lang="en-US" dirty="0"/>
              <a:t>Sensor noise is random and short-lived; consistent deviation reflects real events.</a:t>
            </a:r>
          </a:p>
        </p:txBody>
      </p:sp>
    </p:spTree>
    <p:extLst>
      <p:ext uri="{BB962C8B-B14F-4D97-AF65-F5344CB8AC3E}">
        <p14:creationId xmlns:p14="http://schemas.microsoft.com/office/powerpoint/2010/main" val="19739374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9FF41-07EA-603B-070A-46FAD77FC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TSPulse</a:t>
            </a:r>
            <a:r>
              <a:rPr lang="en-US" altLang="zh-CN" dirty="0"/>
              <a:t>-Method</a:t>
            </a:r>
            <a:r>
              <a:rPr lang="zh-CN" altLang="en-US" dirty="0"/>
              <a:t> </a:t>
            </a:r>
            <a:r>
              <a:rPr lang="en-US" altLang="zh-CN" dirty="0"/>
              <a:t>Assumptions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EB40B2-38ED-2989-3F64-1005899E41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Under normal (no-fire) conditions, PM1 and PM4 follow predictable daily cycles with slow variation.</a:t>
            </a:r>
          </a:p>
          <a:p>
            <a:r>
              <a:rPr lang="en-US" dirty="0"/>
              <a:t>A fire introduces sudden deviations that cannot be reconstructed by a model trained on “normal” data.</a:t>
            </a:r>
          </a:p>
          <a:p>
            <a:r>
              <a:rPr lang="en-US" dirty="0"/>
              <a:t>The reconstruction error thus represents the </a:t>
            </a:r>
            <a:r>
              <a:rPr lang="en-US" i="1" dirty="0"/>
              <a:t>degree of anomaly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9398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20B38-B1FE-6139-8841-6FF9DE0F9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TSPulse</a:t>
            </a:r>
            <a:r>
              <a:rPr lang="en-US" altLang="zh-CN" dirty="0"/>
              <a:t>-Method</a:t>
            </a:r>
            <a:r>
              <a:rPr lang="zh-CN" altLang="en-US" dirty="0"/>
              <a:t> </a:t>
            </a:r>
            <a:r>
              <a:rPr lang="en-US" altLang="zh-CN" dirty="0"/>
              <a:t>Rules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CC120-A759-34B4-1D16-D083E0742D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Fire candidates: reconstruction score &gt; enter threshold (≈ 0.99 quantile).</a:t>
            </a:r>
          </a:p>
          <a:p>
            <a:r>
              <a:rPr lang="en-US" dirty="0"/>
              <a:t>Event ends when score &lt; exit threshold (≈ 0.95 quantile) for sustained minutes.</a:t>
            </a:r>
          </a:p>
          <a:p>
            <a:r>
              <a:rPr lang="en-US" dirty="0"/>
              <a:t>Rolling persistence (≥ 10 samples) ensures temporal stability.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9508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13A517F-04D6-2EF8-A0E2-B593F35FAA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24047" y="459978"/>
            <a:ext cx="8082472" cy="6398022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A6D80536-DE6B-9971-2183-9E3FB479E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1" y="1027850"/>
            <a:ext cx="3338566" cy="1325563"/>
          </a:xfrm>
        </p:spPr>
        <p:txBody>
          <a:bodyPr>
            <a:noAutofit/>
          </a:bodyPr>
          <a:lstStyle/>
          <a:p>
            <a:r>
              <a:rPr lang="en-US" sz="3600" b="1" dirty="0"/>
              <a:t>Station-wise Time Series Results</a:t>
            </a:r>
            <a:br>
              <a:rPr lang="en-US" sz="3600" dirty="0"/>
            </a:br>
            <a:r>
              <a:rPr lang="en-US" altLang="zh-CN" sz="3600" i="1" dirty="0" err="1"/>
              <a:t>TSPulse</a:t>
            </a:r>
            <a:r>
              <a:rPr lang="en-US" sz="3600" i="1" dirty="0"/>
              <a:t> Method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7498991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6889E-B754-A5AA-93AA-A59E54BBF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 white paper with red and blue lines&#10;&#10;AI-generated content may be incorrect.">
            <a:extLst>
              <a:ext uri="{FF2B5EF4-FFF2-40B4-BE49-F238E27FC236}">
                <a16:creationId xmlns:a16="http://schemas.microsoft.com/office/drawing/2014/main" id="{A1CBF852-B55E-0D0F-49FA-5FF380856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406" y="290534"/>
            <a:ext cx="11255188" cy="627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858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DF5C6-9CAA-FEEC-D98B-6250AC7CB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Evaluation</a:t>
            </a:r>
            <a:r>
              <a:rPr lang="zh-CN" altLang="en-US" dirty="0"/>
              <a:t> </a:t>
            </a:r>
            <a:r>
              <a:rPr lang="en-US" altLang="zh-CN" dirty="0"/>
              <a:t>at</a:t>
            </a:r>
            <a:r>
              <a:rPr lang="zh-CN" altLang="en-US" dirty="0"/>
              <a:t> </a:t>
            </a:r>
            <a:r>
              <a:rPr lang="en-US" altLang="zh-CN" dirty="0"/>
              <a:t>aa_44_13_97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135C8-E9B3-3FD4-ADF7-2E167B0118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Method          Precision  Recall     F1-Score  </a:t>
            </a:r>
          </a:p>
          <a:p>
            <a:pPr marL="0" indent="0">
              <a:buNone/>
            </a:pPr>
            <a:r>
              <a:rPr lang="en-US" dirty="0"/>
              <a:t>--------------------------------------------------</a:t>
            </a:r>
          </a:p>
          <a:p>
            <a:pPr marL="0" indent="0">
              <a:buNone/>
            </a:pPr>
            <a:r>
              <a:rPr lang="en-US" dirty="0"/>
              <a:t>Single-station  0.400      0.500      0.444     </a:t>
            </a:r>
          </a:p>
          <a:p>
            <a:pPr marL="0" indent="0">
              <a:buNone/>
            </a:pPr>
            <a:r>
              <a:rPr lang="en-US" dirty="0" err="1"/>
              <a:t>TSPulse</a:t>
            </a:r>
            <a:r>
              <a:rPr lang="en-US" dirty="0"/>
              <a:t>         0.571      1.000      0.727 </a:t>
            </a:r>
          </a:p>
        </p:txBody>
      </p:sp>
    </p:spTree>
    <p:extLst>
      <p:ext uri="{BB962C8B-B14F-4D97-AF65-F5344CB8AC3E}">
        <p14:creationId xmlns:p14="http://schemas.microsoft.com/office/powerpoint/2010/main" val="26905374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7BE290F-8551-A96D-4122-B1583E8D884D}"/>
              </a:ext>
            </a:extLst>
          </p:cNvPr>
          <p:cNvSpPr txBox="1"/>
          <p:nvPr/>
        </p:nvSpPr>
        <p:spPr>
          <a:xfrm>
            <a:off x="395022" y="1740701"/>
            <a:ext cx="355352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Fire Event Dynamics</a:t>
            </a:r>
            <a:br>
              <a:rPr lang="en-US" sz="1800" dirty="0"/>
            </a:br>
            <a:br>
              <a:rPr lang="en-US" sz="1800" dirty="0"/>
            </a:br>
            <a:r>
              <a:rPr lang="en-US" altLang="zh-CN" sz="1800" i="1" dirty="0" err="1"/>
              <a:t>TSPulse</a:t>
            </a:r>
            <a:r>
              <a:rPr lang="en-US" sz="1800" i="1" dirty="0"/>
              <a:t> Method</a:t>
            </a:r>
            <a:endParaRPr lang="en-US" dirty="0"/>
          </a:p>
        </p:txBody>
      </p:sp>
      <p:pic>
        <p:nvPicPr>
          <p:cNvPr id="11" name="tspulse_fire_events_map_animated_working">
            <a:hlinkClick r:id="" action="ppaction://media"/>
            <a:extLst>
              <a:ext uri="{FF2B5EF4-FFF2-40B4-BE49-F238E27FC236}">
                <a16:creationId xmlns:a16="http://schemas.microsoft.com/office/drawing/2014/main" id="{1D488712-1289-4262-3142-53D0E8B1F10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30341" r="27046" b="9545"/>
          <a:stretch>
            <a:fillRect/>
          </a:stretch>
        </p:blipFill>
        <p:spPr>
          <a:xfrm>
            <a:off x="3990113" y="1"/>
            <a:ext cx="6054436" cy="642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624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6000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fire event&#10;&#10;AI-generated content may be incorrect.">
            <a:extLst>
              <a:ext uri="{FF2B5EF4-FFF2-40B4-BE49-F238E27FC236}">
                <a16:creationId xmlns:a16="http://schemas.microsoft.com/office/drawing/2014/main" id="{93964391-3CD8-BAAE-6BBA-75572CF1D3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951" y="1"/>
            <a:ext cx="93015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1939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CA689-2720-0365-2FF9-E16A7D270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07BD3-7B32-9F12-E13F-17BEFCD790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9440"/>
            <a:ext cx="10515600" cy="5278560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Model Fine-Tuning</a:t>
            </a:r>
            <a:endParaRPr lang="en-US" dirty="0"/>
          </a:p>
          <a:p>
            <a:pPr lvl="1"/>
            <a:r>
              <a:rPr lang="en-US" dirty="0"/>
              <a:t>Use labeled fire events to fine-tune the </a:t>
            </a:r>
            <a:r>
              <a:rPr lang="en-US" dirty="0" err="1"/>
              <a:t>TSPulse</a:t>
            </a:r>
            <a:r>
              <a:rPr lang="en-US" dirty="0"/>
              <a:t> model and recalibrate detection thresholds.</a:t>
            </a:r>
          </a:p>
          <a:p>
            <a:pPr lvl="1"/>
            <a:r>
              <a:rPr lang="en-US" dirty="0"/>
              <a:t>Optimize blending weights between rule-based and ML scores for better balance of recall and precision.</a:t>
            </a:r>
          </a:p>
          <a:p>
            <a:r>
              <a:rPr lang="en-US" b="1" dirty="0"/>
              <a:t>Improved Veto Logic</a:t>
            </a:r>
            <a:endParaRPr lang="en-US" dirty="0"/>
          </a:p>
          <a:p>
            <a:pPr lvl="1"/>
            <a:r>
              <a:rPr lang="en-US" dirty="0"/>
              <a:t>Refine humidity and synchronization </a:t>
            </a:r>
            <a:r>
              <a:rPr lang="en-US" dirty="0" err="1"/>
              <a:t>vetos</a:t>
            </a:r>
            <a:r>
              <a:rPr lang="en-US" dirty="0"/>
              <a:t> to reduce false alarms from fog, rain, or calibration drift.</a:t>
            </a:r>
          </a:p>
          <a:p>
            <a:pPr lvl="1"/>
            <a:r>
              <a:rPr lang="en-US" dirty="0"/>
              <a:t>Develop adaptive veto thresholds that consider diurnal and seasonal changes.</a:t>
            </a:r>
          </a:p>
          <a:p>
            <a:r>
              <a:rPr lang="en-US" b="1" dirty="0"/>
              <a:t>Environmental Variables Integration</a:t>
            </a:r>
            <a:endParaRPr lang="en-US" dirty="0"/>
          </a:p>
          <a:p>
            <a:pPr lvl="1"/>
            <a:r>
              <a:rPr lang="en-US" dirty="0"/>
              <a:t>Incorporate relative humidity, temperature, and wind data to adjust PM and SPH signal interpretation.</a:t>
            </a:r>
          </a:p>
          <a:p>
            <a:pPr lvl="1"/>
            <a:r>
              <a:rPr lang="en-US" dirty="0"/>
              <a:t>Use wind direction and speed to model how smoke spreads across stations.</a:t>
            </a:r>
          </a:p>
          <a:p>
            <a:r>
              <a:rPr lang="en-US" b="1" dirty="0"/>
              <a:t>SPH Gas Sensor Utilization</a:t>
            </a:r>
            <a:endParaRPr lang="en-US" dirty="0"/>
          </a:p>
          <a:p>
            <a:pPr lvl="1"/>
            <a:r>
              <a:rPr lang="en-US" dirty="0"/>
              <a:t>Analyze SPH channel patterns (CO/VOC signatures) as an early fire indicator.</a:t>
            </a:r>
          </a:p>
          <a:p>
            <a:pPr lvl="1"/>
            <a:r>
              <a:rPr lang="en-US" dirty="0"/>
              <a:t>Build joint PM–SPH anomaly features to better distinguish combustion smoke from dust or pollution.</a:t>
            </a:r>
          </a:p>
        </p:txBody>
      </p:sp>
    </p:spTree>
    <p:extLst>
      <p:ext uri="{BB962C8B-B14F-4D97-AF65-F5344CB8AC3E}">
        <p14:creationId xmlns:p14="http://schemas.microsoft.com/office/powerpoint/2010/main" val="2741785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1602</TotalTime>
  <Words>694</Words>
  <Application>Microsoft Macintosh PowerPoint</Application>
  <PresentationFormat>Widescreen</PresentationFormat>
  <Paragraphs>72</Paragraphs>
  <Slides>20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Wildfire Detection from PM Sensor Network</vt:lpstr>
      <vt:lpstr>Background</vt:lpstr>
      <vt:lpstr>PowerPoint Presentation</vt:lpstr>
      <vt:lpstr>Data Preprocessing</vt:lpstr>
      <vt:lpstr>No-fire baseline</vt:lpstr>
      <vt:lpstr>Single-Station-Method Assumptions</vt:lpstr>
      <vt:lpstr>Single-Station-Method Rules</vt:lpstr>
      <vt:lpstr>Station-wise Time Series Results Single-Station Method</vt:lpstr>
      <vt:lpstr>Multi-Station Method Assumptions </vt:lpstr>
      <vt:lpstr>Multi-Station- Rules</vt:lpstr>
      <vt:lpstr>Station-wise Time Series Results Multi-Station Method</vt:lpstr>
      <vt:lpstr>TSPulse-Method Theory</vt:lpstr>
      <vt:lpstr>TSPulse-Method Assumptions</vt:lpstr>
      <vt:lpstr>TSPulse-Method Rules</vt:lpstr>
      <vt:lpstr>Station-wise Time Series Results TSPulse Method</vt:lpstr>
      <vt:lpstr>PowerPoint Presentation</vt:lpstr>
      <vt:lpstr>Evaluation at aa_44_13_97</vt:lpstr>
      <vt:lpstr>PowerPoint Presentation</vt:lpstr>
      <vt:lpstr>PowerPoint Presentation</vt:lpstr>
      <vt:lpstr>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Jingjing Peng</dc:creator>
  <cp:lastModifiedBy>Jingjing Peng</cp:lastModifiedBy>
  <cp:revision>3</cp:revision>
  <dcterms:created xsi:type="dcterms:W3CDTF">2025-10-08T00:16:30Z</dcterms:created>
  <dcterms:modified xsi:type="dcterms:W3CDTF">2025-10-10T01:22:49Z</dcterms:modified>
</cp:coreProperties>
</file>